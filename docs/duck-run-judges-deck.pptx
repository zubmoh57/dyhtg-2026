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46, and this is Duck Run. (Point at Bill.) This is Bill. Bill is a duck, Bill is broke, and Bill is about to have a very bad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JPMorgan asked for something fun that uses two buttons, maximum. So we built the whole game around one rule: every single decision is left or right. Dodging, swimming, even the boss fight. No third key, no menus mid-game. Two buttons,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 borrowed a thousand breadcrumbs from Don Crumbs, a mafia pigeon charging four hundred percent a week. Bill can’t read, so he didn’t see that part. The Don wants his bread, and sends his dog, Biscuit. Bill’s only hope is the pond, whose floor is full of lost coins. Solo players see all this as a short animated film before their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cast. Bill: a duck in a suit, no job, can’t read, and he has never once said no to a dollar, which matters later. Don Crumbs: a mafia pigeon in pinstripes with a tommy gun, and he’s the boss you fight at the end; his face gets more battered with every hit. Biscuit: the Don’s dog, chasing Bill down the road. And the pond locals, jellyfish and pufferfish, who cost you coins if you bump them. Every character is built in code from 3D shapes; these are the actual in-game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wrote a line of code, we drew everyone in this notebook. Bill, from the side and the front; he was nearly called Ducker. Don Crumbs had his hat, cigar and tommy gun from the very first sketch. The dog went through Crumbie, Woofie and Kutta before we landed on Biscuit. And the underwater stage started as “under sea” and a “bonus stage” before it became the pond, with the jellyfish and pufferfish as obstacles. Next to each sketch is what it became in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 is about a minute and a half. Stage one: dodge the logs, and if you clip one, Biscuit catches up. Then Bill dives into the pond: grab coins and dodge the jellyfish and pufferfish. Bill can’t resist a dollar, so a dollar on a fishing hook drags him back out. Back on the road, faster. And then the Don himself: dodge his shots, then Ready, Aim, FIRE, and the faster you press, the more damage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two buttons means. On a laptop it’s A and D. On a phone, it’s the left half and the right half of the screen. You dodge with them, and when the Don’s FIRE prompt flashes, either button fires. That’s the whole control scheme. And because any two buttons work, you can play one-handed, with two thumbs, or with two accessibility 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shaped the game. One: easy to learn, hard to master. The only rule is left or right, but Stage 2 is faster, and the Don’s FIRE comes after a random wait, so you can’t time it by rhythm; the faster you react, the more damage you do. Two: greed pays. The coins you grab underwater automatically buy the best power-up you can afford, so a great swim sets up the boss fight. Three: fair for everyone. Courses are built from a seed, so the whole room races the same one, and we tested a thousand seeds to prove every course can be finished. Four: losing is funny too, so even a bad run ends with a laugh.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it’s built to play together, in the room. The host opens a room on the big screen. Everyone scans the QR code: no app, no account, just a name. You land in the pond as a Bill in your own suit. The host hits start, everyone gets the same 3-2-1 and the same course, on their own phone. Up to 20 players a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Switch to the game on the projector (big-screen mode on, room already created). Say: “Get your phones out, scan the code, type a name.” Wait until 3 or more ducks are in the pond. Press Start race. While they play, narrate the big screen: the track, the commentary, who’s leading. When the podium comes up, read out the winner and the Don’s roast. If the internet fails: play the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everyone plays, the projector isn’t playing: it’s the stadium. Every duck moves along one track live, with commentary as things happen. When the race ends, a podium rises, and the Don roasts whoever came last. Then it’s straight back to the pond for a rematch.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how it’s built. Everything you saw is made in code with Three.js, including every sound: no downloaded models or audio files. Courses are seeded, so everyone in a room gets the same course, and every course is guaranteed to have a way through. The rooms run on Supabase with row-level security and a server clock, so everyone starts on the same beat. And it’s tested: 155 unit tests and 60 database security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Team 46: five of us, each owning a piece. (Optional: each person says their own line.) Then: thanks for listening, and on to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closing slide as StrathHack26: let the meme play with sound,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A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D2433"/>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D2433"/>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FD23F"/>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FFD23F"/>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A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D2433"/>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D2433"/>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jpeg"/><Relationship Id="rId4" Type="http://schemas.openxmlformats.org/officeDocument/2006/relationships/image" Target="../media/image-5-4.png"/><Relationship Id="rId5" Type="http://schemas.openxmlformats.org/officeDocument/2006/relationships/image" Target="../media/image-5-5.jpeg"/><Relationship Id="rId6" Type="http://schemas.openxmlformats.org/officeDocument/2006/relationships/image" Target="../media/image-5-6.png"/><Relationship Id="rId7" Type="http://schemas.openxmlformats.org/officeDocument/2006/relationships/image" Target="../media/image-5-7.jpe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microsoft.com/office/2007/relationships/media" Target="../media/media1.mp4"/><Relationship Id="rId5" Type="http://schemas.openxmlformats.org/officeDocument/2006/relationships/video" Target="../media/media1.mp4"/></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EC8F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7EC8F0"/>
              </a:gs>
              <a:gs pos="70000">
                <a:srgbClr val="C9ECFF"/>
              </a:gs>
              <a:gs pos="100000">
                <a:srgbClr val="FFF1CF"/>
              </a:gs>
            </a:gsLst>
            <a:lin ang="5400000" scaled="0"/>
          </a:gradFill>
          <a:ln/>
        </p:spPr>
      </p:sp>
      <p:sp>
        <p:nvSpPr>
          <p:cNvPr id="3" name="Text 1"/>
          <p:cNvSpPr/>
          <p:nvPr/>
        </p:nvSpPr>
        <p:spPr>
          <a:xfrm>
            <a:off x="812800" y="2021840"/>
            <a:ext cx="6802120"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5B3A1A"/>
                </a:solidFill>
                <a:latin typeface="Nunito Sans" pitchFamily="34" charset="0"/>
                <a:ea typeface="Nunito Sans" pitchFamily="34" charset="-122"/>
                <a:cs typeface="Nunito Sans" pitchFamily="34" charset="-120"/>
              </a:rPr>
              <a:t>JPMORGAN CHASE CHALLENGE · TEAM 46</a:t>
            </a:r>
            <a:endParaRPr lang="en-US" sz="1600" dirty="0"/>
          </a:p>
        </p:txBody>
      </p:sp>
      <p:sp>
        <p:nvSpPr>
          <p:cNvPr id="4" name="Text 2"/>
          <p:cNvSpPr/>
          <p:nvPr>
            <p:ph type="title"/>
          </p:nvPr>
        </p:nvSpPr>
        <p:spPr>
          <a:xfrm>
            <a:off x="812800" y="2509520"/>
            <a:ext cx="6802120"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FFD23F"/>
                </a:solidFill>
                <a:latin typeface="Fredoka" pitchFamily="34" charset="0"/>
                <a:ea typeface="Fredoka" pitchFamily="34" charset="-122"/>
                <a:cs typeface="Fredoka" pitchFamily="34" charset="-120"/>
              </a:rPr>
              <a:t>Duck Run</a:t>
            </a:r>
            <a:endParaRPr lang="en-US" sz="10000" dirty="0"/>
          </a:p>
        </p:txBody>
      </p:sp>
      <p:sp>
        <p:nvSpPr>
          <p:cNvPr id="5" name="Text 3"/>
          <p:cNvSpPr/>
          <p:nvPr/>
        </p:nvSpPr>
        <p:spPr>
          <a:xfrm>
            <a:off x="812800" y="3982720"/>
            <a:ext cx="6802120" cy="87884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D2433"/>
                </a:solidFill>
                <a:latin typeface="Fredoka" pitchFamily="34" charset="0"/>
                <a:ea typeface="Fredoka" pitchFamily="34" charset="-122"/>
                <a:cs typeface="Fredoka" pitchFamily="34" charset="-120"/>
              </a:rPr>
              <a:t>Two buttons. A whole room of players. One duck in debt to the mafia.</a:t>
            </a:r>
            <a:endParaRPr lang="en-US" sz="2800" dirty="0"/>
          </a:p>
        </p:txBody>
      </p:sp>
      <p:pic>
        <p:nvPicPr>
          <p:cNvPr id="6" name="Image 0" descr="Bill the duck in his scruffy suit, holding a coffee, coins falling from his pockets">    </p:cNvPr>
          <p:cNvPicPr>
            <a:picLocks noChangeAspect="1"/>
          </p:cNvPicPr>
          <p:nvPr/>
        </p:nvPicPr>
        <p:blipFill>
          <a:blip r:embed="rId1"/>
          <a:srcRect l="-14810" r="-14810" t="0" b="0"/>
          <a:stretch/>
        </p:blipFill>
        <p:spPr>
          <a:xfrm>
            <a:off x="7823200" y="889000"/>
            <a:ext cx="3556000" cy="508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D23F"/>
        </a:solidFill>
      </p:bgPr>
    </p:bg>
    <p:spTree>
      <p:nvGrpSpPr>
        <p:cNvPr id="1" name=""/>
        <p:cNvGrpSpPr/>
        <p:nvPr/>
      </p:nvGrpSpPr>
      <p:grpSpPr>
        <a:xfrm>
          <a:off x="0" y="0"/>
          <a:ext cx="0" cy="0"/>
          <a:chOff x="0" y="0"/>
          <a:chExt cx="0" cy="0"/>
        </a:xfrm>
      </p:grpSpPr>
      <p:sp>
        <p:nvSpPr>
          <p:cNvPr id="2" name="Text 0"/>
          <p:cNvSpPr/>
          <p:nvPr/>
        </p:nvSpPr>
        <p:spPr>
          <a:xfrm>
            <a:off x="812800" y="14376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5B3A1A"/>
                </a:solidFill>
                <a:latin typeface="Nunito Sans" pitchFamily="34" charset="0"/>
                <a:ea typeface="Nunito Sans" pitchFamily="34" charset="-122"/>
                <a:cs typeface="Nunito Sans" pitchFamily="34" charset="-120"/>
              </a:rPr>
              <a:t>THE BRIEF</a:t>
            </a:r>
            <a:endParaRPr lang="en-US" sz="1600" dirty="0"/>
          </a:p>
        </p:txBody>
      </p:sp>
      <p:sp>
        <p:nvSpPr>
          <p:cNvPr id="3" name="Text 1"/>
          <p:cNvSpPr/>
          <p:nvPr/>
        </p:nvSpPr>
        <p:spPr>
          <a:xfrm>
            <a:off x="812800" y="1976120"/>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5B3A1A"/>
                </a:solidFill>
                <a:latin typeface="Fredoka" pitchFamily="34" charset="0"/>
                <a:ea typeface="Fredoka" pitchFamily="34" charset="-122"/>
                <a:cs typeface="Fredoka" pitchFamily="34" charset="-120"/>
              </a:rPr>
              <a:t>“Make something fun that uses two buttons or actions, maximum.”</a:t>
            </a:r>
            <a:endParaRPr lang="en-US" sz="3600" dirty="0"/>
          </a:p>
        </p:txBody>
      </p:sp>
      <p:sp>
        <p:nvSpPr>
          <p:cNvPr id="4" name="Text 2"/>
          <p:cNvSpPr/>
          <p:nvPr/>
        </p:nvSpPr>
        <p:spPr>
          <a:xfrm>
            <a:off x="812800" y="32816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5B3A1A"/>
                </a:solidFill>
                <a:latin typeface="Nunito Sans" pitchFamily="34" charset="0"/>
                <a:ea typeface="Nunito Sans" pitchFamily="34" charset="-122"/>
                <a:cs typeface="Nunito Sans" pitchFamily="34" charset="-120"/>
              </a:rPr>
              <a:t>OUR ANSWER</a:t>
            </a:r>
            <a:endParaRPr lang="en-US" sz="1600" dirty="0"/>
          </a:p>
        </p:txBody>
      </p:sp>
      <p:sp>
        <p:nvSpPr>
          <p:cNvPr id="5" name="Text 3"/>
          <p:cNvSpPr/>
          <p:nvPr>
            <p:ph type="title"/>
          </p:nvPr>
        </p:nvSpPr>
        <p:spPr>
          <a:xfrm>
            <a:off x="812800" y="382016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D2433"/>
                </a:solidFill>
                <a:latin typeface="Fredoka" pitchFamily="34" charset="0"/>
                <a:ea typeface="Fredoka" pitchFamily="34" charset="-122"/>
                <a:cs typeface="Fredoka" pitchFamily="34" charset="-120"/>
              </a:rPr>
              <a:t>Every decision in the game is left or right.</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AF0"/>
        </a:solidFill>
      </p:bgPr>
    </p:bg>
    <p:spTree>
      <p:nvGrpSpPr>
        <p:cNvPr id="1" name=""/>
        <p:cNvGrpSpPr/>
        <p:nvPr/>
      </p:nvGrpSpPr>
      <p:grpSpPr>
        <a:xfrm>
          <a:off x="0" y="0"/>
          <a:ext cx="0" cy="0"/>
          <a:chOff x="0" y="0"/>
          <a:chExt cx="0" cy="0"/>
        </a:xfrm>
      </p:grpSpPr>
      <p:sp>
        <p:nvSpPr>
          <p:cNvPr id="2" name="Text 0"/>
          <p:cNvSpPr/>
          <p:nvPr/>
        </p:nvSpPr>
        <p:spPr>
          <a:xfrm>
            <a:off x="812800" y="1691641"/>
            <a:ext cx="4709160" cy="30988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C46A12"/>
                </a:solidFill>
                <a:latin typeface="Nunito Sans" pitchFamily="34" charset="0"/>
                <a:ea typeface="Nunito Sans" pitchFamily="34" charset="-122"/>
                <a:cs typeface="Nunito Sans" pitchFamily="34" charset="-120"/>
              </a:rPr>
              <a:t>THE STORY</a:t>
            </a:r>
            <a:endParaRPr lang="en-US" sz="1600" dirty="0"/>
          </a:p>
        </p:txBody>
      </p:sp>
      <p:sp>
        <p:nvSpPr>
          <p:cNvPr id="3" name="Text 1"/>
          <p:cNvSpPr/>
          <p:nvPr>
            <p:ph type="title"/>
          </p:nvPr>
        </p:nvSpPr>
        <p:spPr>
          <a:xfrm>
            <a:off x="812800" y="2153920"/>
            <a:ext cx="470916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Pay the Don. Or become dinner.</a:t>
            </a:r>
            <a:endParaRPr lang="en-US" sz="3600" dirty="0"/>
          </a:p>
        </p:txBody>
      </p:sp>
      <p:sp>
        <p:nvSpPr>
          <p:cNvPr id="4" name="Text 2"/>
          <p:cNvSpPr/>
          <p:nvPr/>
        </p:nvSpPr>
        <p:spPr>
          <a:xfrm>
            <a:off x="812800" y="3337561"/>
            <a:ext cx="4709160" cy="6146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4F5C"/>
                </a:solidFill>
                <a:latin typeface="Nunito Sans" pitchFamily="34" charset="0"/>
                <a:ea typeface="Nunito Sans" pitchFamily="34" charset="-122"/>
                <a:cs typeface="Nunito Sans" pitchFamily="34" charset="-120"/>
              </a:rPr>
              <a:t>1.</a:t>
            </a:r>
            <a:r>
              <a:rPr lang="en-US" sz="1600" dirty="0">
                <a:solidFill>
                  <a:srgbClr val="4A4F5C"/>
                </a:solidFill>
                <a:latin typeface="Nunito Sans" pitchFamily="34" charset="0"/>
                <a:ea typeface="Nunito Sans" pitchFamily="34" charset="-122"/>
                <a:cs typeface="Nunito Sans" pitchFamily="34" charset="-120"/>
              </a:rPr>
              <a:t> Bill borrowed 1,000 breadcrumbs from Don Crumbs. Interest: 400% a week. Bill can’t read.</a:t>
            </a:r>
            <a:endParaRPr lang="en-US" sz="1600" dirty="0"/>
          </a:p>
        </p:txBody>
      </p:sp>
      <p:sp>
        <p:nvSpPr>
          <p:cNvPr id="5" name="Text 3"/>
          <p:cNvSpPr/>
          <p:nvPr/>
        </p:nvSpPr>
        <p:spPr>
          <a:xfrm>
            <a:off x="812800" y="4104641"/>
            <a:ext cx="4709160" cy="32004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4F5C"/>
                </a:solidFill>
                <a:latin typeface="Nunito Sans" pitchFamily="34" charset="0"/>
                <a:ea typeface="Nunito Sans" pitchFamily="34" charset="-122"/>
                <a:cs typeface="Nunito Sans" pitchFamily="34" charset="-120"/>
              </a:rPr>
              <a:t>2.</a:t>
            </a:r>
            <a:r>
              <a:rPr lang="en-US" sz="1600" dirty="0">
                <a:solidFill>
                  <a:srgbClr val="4A4F5C"/>
                </a:solidFill>
                <a:latin typeface="Nunito Sans" pitchFamily="34" charset="0"/>
                <a:ea typeface="Nunito Sans" pitchFamily="34" charset="-122"/>
                <a:cs typeface="Nunito Sans" pitchFamily="34" charset="-120"/>
              </a:rPr>
              <a:t> The Don sends his dog, Biscuit, to collect.</a:t>
            </a:r>
            <a:endParaRPr lang="en-US" sz="1600" dirty="0"/>
          </a:p>
        </p:txBody>
      </p:sp>
      <p:sp>
        <p:nvSpPr>
          <p:cNvPr id="6" name="Text 4"/>
          <p:cNvSpPr/>
          <p:nvPr/>
        </p:nvSpPr>
        <p:spPr>
          <a:xfrm>
            <a:off x="812800" y="4577080"/>
            <a:ext cx="4709160" cy="614680"/>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4A4F5C"/>
                </a:solidFill>
                <a:latin typeface="Nunito Sans" pitchFamily="34" charset="0"/>
                <a:ea typeface="Nunito Sans" pitchFamily="34" charset="-122"/>
                <a:cs typeface="Nunito Sans" pitchFamily="34" charset="-120"/>
              </a:rPr>
              <a:t>3.</a:t>
            </a:r>
            <a:r>
              <a:rPr lang="en-US" sz="1600" dirty="0">
                <a:solidFill>
                  <a:srgbClr val="4A4F5C"/>
                </a:solidFill>
                <a:latin typeface="Nunito Sans" pitchFamily="34" charset="0"/>
                <a:ea typeface="Nunito Sans" pitchFamily="34" charset="-122"/>
                <a:cs typeface="Nunito Sans" pitchFamily="34" charset="-120"/>
              </a:rPr>
              <a:t> Bill’s only way out: the lost coins on the pond floor.</a:t>
            </a:r>
            <a:endParaRPr lang="en-US" sz="1600" dirty="0"/>
          </a:p>
        </p:txBody>
      </p:sp>
      <p:pic>
        <p:nvPicPr>
          <p:cNvPr id="7" name="Image 0" descr="Duck Run title screen: Bill running down a forest road with the Don’s dog chasing him and the Don flying overhead, beside the menu">    </p:cNvPr>
          <p:cNvPicPr>
            <a:picLocks noChangeAspect="1"/>
          </p:cNvPicPr>
          <p:nvPr/>
        </p:nvPicPr>
        <p:blipFill>
          <a:blip r:embed="rId1"/>
          <a:srcRect l="0" r="0" t="0" b="0"/>
          <a:stretch/>
        </p:blipFill>
        <p:spPr>
          <a:xfrm>
            <a:off x="5791200" y="1857375"/>
            <a:ext cx="5588000" cy="3143250"/>
          </a:xfrm>
          <a:prstGeom prst="roundRect">
            <a:avLst>
              <a:gd name="adj" fmla="val 4848"/>
            </a:avLst>
          </a:prstGeom>
          <a:effectLst>
            <a:outerShdw sx="100000" sy="100000" kx="0" ky="0" algn="bl" rotWithShape="0" blurRad="254000" dist="101600" dir="5400000">
              <a:srgbClr val="1D2433">
                <a:alpha val="2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6F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Meet the cast</a:t>
            </a:r>
            <a:endParaRPr lang="en-US" sz="3600" dirty="0"/>
          </a:p>
        </p:txBody>
      </p:sp>
      <p:sp>
        <p:nvSpPr>
          <p:cNvPr id="3" name="Shape 1"/>
          <p:cNvSpPr/>
          <p:nvPr/>
        </p:nvSpPr>
        <p:spPr>
          <a:xfrm>
            <a:off x="819150" y="1576070"/>
            <a:ext cx="2495550" cy="4218940"/>
          </a:xfrm>
          <a:prstGeom prst="roundRect">
            <a:avLst>
              <a:gd name="adj" fmla="val 5852"/>
            </a:avLst>
          </a:prstGeom>
          <a:solidFill>
            <a:srgbClr val="FFFAF0"/>
          </a:solidFill>
          <a:ln w="12700">
            <a:solidFill>
              <a:srgbClr val="CFE3EF"/>
            </a:solidFill>
            <a:prstDash val="solid"/>
          </a:ln>
        </p:spPr>
      </p:sp>
      <p:sp>
        <p:nvSpPr>
          <p:cNvPr id="4" name="Shape 2"/>
          <p:cNvSpPr/>
          <p:nvPr/>
        </p:nvSpPr>
        <p:spPr>
          <a:xfrm>
            <a:off x="1000760" y="1757680"/>
            <a:ext cx="2089150" cy="2413000"/>
          </a:xfrm>
          <a:prstGeom prst="roundRect">
            <a:avLst>
              <a:gd name="adj" fmla="val 4863"/>
            </a:avLst>
          </a:prstGeom>
          <a:solidFill>
            <a:srgbClr val="DCEEFA"/>
          </a:solidFill>
          <a:ln/>
        </p:spPr>
      </p:sp>
      <p:pic>
        <p:nvPicPr>
          <p:cNvPr id="5" name="Image 0" descr="Bill the duck in a brown coat, red tie and flat cap, holding an iced coffee">    </p:cNvPr>
          <p:cNvPicPr>
            <a:picLocks noChangeAspect="1"/>
          </p:cNvPicPr>
          <p:nvPr/>
        </p:nvPicPr>
        <p:blipFill>
          <a:blip r:embed="rId1"/>
          <a:stretch>
            <a:fillRect/>
          </a:stretch>
        </p:blipFill>
        <p:spPr>
          <a:xfrm>
            <a:off x="1000760" y="1919605"/>
            <a:ext cx="2089150" cy="2089150"/>
          </a:xfrm>
          <a:prstGeom prst="rect">
            <a:avLst/>
          </a:prstGeom>
        </p:spPr>
      </p:pic>
      <p:sp>
        <p:nvSpPr>
          <p:cNvPr id="6" name="Text 3"/>
          <p:cNvSpPr/>
          <p:nvPr/>
        </p:nvSpPr>
        <p:spPr>
          <a:xfrm>
            <a:off x="100076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F99"/>
                </a:solidFill>
                <a:latin typeface="Nunito Sans" pitchFamily="34" charset="0"/>
                <a:ea typeface="Nunito Sans" pitchFamily="34" charset="-122"/>
                <a:cs typeface="Nunito Sans" pitchFamily="34" charset="-120"/>
              </a:rPr>
              <a:t>OUR HERO, SORT OF</a:t>
            </a:r>
            <a:endParaRPr lang="en-US" sz="1200" dirty="0"/>
          </a:p>
        </p:txBody>
      </p:sp>
      <p:sp>
        <p:nvSpPr>
          <p:cNvPr id="7" name="Text 4"/>
          <p:cNvSpPr/>
          <p:nvPr/>
        </p:nvSpPr>
        <p:spPr>
          <a:xfrm>
            <a:off x="100076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Bill</a:t>
            </a:r>
            <a:endParaRPr lang="en-US" sz="2200" dirty="0"/>
          </a:p>
        </p:txBody>
      </p:sp>
      <p:sp>
        <p:nvSpPr>
          <p:cNvPr id="8" name="Text 5"/>
          <p:cNvSpPr/>
          <p:nvPr/>
        </p:nvSpPr>
        <p:spPr>
          <a:xfrm>
            <a:off x="100076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A duck in a suit with no job. Can’t read. Has never said no to a dollar.</a:t>
            </a:r>
            <a:endParaRPr lang="en-US" sz="1300" dirty="0"/>
          </a:p>
        </p:txBody>
      </p:sp>
      <p:sp>
        <p:nvSpPr>
          <p:cNvPr id="9" name="Shape 6"/>
          <p:cNvSpPr/>
          <p:nvPr/>
        </p:nvSpPr>
        <p:spPr>
          <a:xfrm>
            <a:off x="3505200" y="1576070"/>
            <a:ext cx="2495550" cy="4218940"/>
          </a:xfrm>
          <a:prstGeom prst="roundRect">
            <a:avLst>
              <a:gd name="adj" fmla="val 5852"/>
            </a:avLst>
          </a:prstGeom>
          <a:solidFill>
            <a:srgbClr val="FFFAF0"/>
          </a:solidFill>
          <a:ln w="12700">
            <a:solidFill>
              <a:srgbClr val="CFE3EF"/>
            </a:solidFill>
            <a:prstDash val="solid"/>
          </a:ln>
        </p:spPr>
      </p:sp>
      <p:sp>
        <p:nvSpPr>
          <p:cNvPr id="10" name="Shape 7"/>
          <p:cNvSpPr/>
          <p:nvPr/>
        </p:nvSpPr>
        <p:spPr>
          <a:xfrm>
            <a:off x="3686810" y="1757680"/>
            <a:ext cx="2089150" cy="2413000"/>
          </a:xfrm>
          <a:prstGeom prst="roundRect">
            <a:avLst>
              <a:gd name="adj" fmla="val 4863"/>
            </a:avLst>
          </a:prstGeom>
          <a:solidFill>
            <a:srgbClr val="F6E4E2"/>
          </a:solidFill>
          <a:ln/>
        </p:spPr>
      </p:sp>
      <p:pic>
        <p:nvPicPr>
          <p:cNvPr id="11" name="Image 1" descr="Don Crumbs, a pigeon in a pinstripe suit and fedora with a tommy gun, standing on a crate">    </p:cNvPr>
          <p:cNvPicPr>
            <a:picLocks noChangeAspect="1"/>
          </p:cNvPicPr>
          <p:nvPr/>
        </p:nvPicPr>
        <p:blipFill>
          <a:blip r:embed="rId2"/>
          <a:stretch>
            <a:fillRect/>
          </a:stretch>
        </p:blipFill>
        <p:spPr>
          <a:xfrm>
            <a:off x="3686810" y="1919605"/>
            <a:ext cx="2089150" cy="2089150"/>
          </a:xfrm>
          <a:prstGeom prst="rect">
            <a:avLst/>
          </a:prstGeom>
        </p:spPr>
      </p:pic>
      <p:sp>
        <p:nvSpPr>
          <p:cNvPr id="12" name="Text 8"/>
          <p:cNvSpPr/>
          <p:nvPr/>
        </p:nvSpPr>
        <p:spPr>
          <a:xfrm>
            <a:off x="368681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02A"/>
                </a:solidFill>
                <a:latin typeface="Nunito Sans" pitchFamily="34" charset="0"/>
                <a:ea typeface="Nunito Sans" pitchFamily="34" charset="-122"/>
                <a:cs typeface="Nunito Sans" pitchFamily="34" charset="-120"/>
              </a:rPr>
              <a:t>THE BOSS</a:t>
            </a:r>
            <a:endParaRPr lang="en-US" sz="1200" dirty="0"/>
          </a:p>
        </p:txBody>
      </p:sp>
      <p:sp>
        <p:nvSpPr>
          <p:cNvPr id="13" name="Text 9"/>
          <p:cNvSpPr/>
          <p:nvPr/>
        </p:nvSpPr>
        <p:spPr>
          <a:xfrm>
            <a:off x="368681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Don Crumbs</a:t>
            </a:r>
            <a:endParaRPr lang="en-US" sz="2200" dirty="0"/>
          </a:p>
        </p:txBody>
      </p:sp>
      <p:sp>
        <p:nvSpPr>
          <p:cNvPr id="14" name="Text 10"/>
          <p:cNvSpPr/>
          <p:nvPr/>
        </p:nvSpPr>
        <p:spPr>
          <a:xfrm>
            <a:off x="368681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Mafia pigeon. Pinstripes, fedora, tommy gun. Charges 400% a week.</a:t>
            </a:r>
            <a:endParaRPr lang="en-US" sz="1300" dirty="0"/>
          </a:p>
        </p:txBody>
      </p:sp>
      <p:sp>
        <p:nvSpPr>
          <p:cNvPr id="15" name="Shape 11"/>
          <p:cNvSpPr/>
          <p:nvPr/>
        </p:nvSpPr>
        <p:spPr>
          <a:xfrm>
            <a:off x="6191250" y="1576070"/>
            <a:ext cx="2495550" cy="4218940"/>
          </a:xfrm>
          <a:prstGeom prst="roundRect">
            <a:avLst>
              <a:gd name="adj" fmla="val 5852"/>
            </a:avLst>
          </a:prstGeom>
          <a:solidFill>
            <a:srgbClr val="FFFAF0"/>
          </a:solidFill>
          <a:ln w="12700">
            <a:solidFill>
              <a:srgbClr val="CFE3EF"/>
            </a:solidFill>
            <a:prstDash val="solid"/>
          </a:ln>
        </p:spPr>
      </p:sp>
      <p:sp>
        <p:nvSpPr>
          <p:cNvPr id="16" name="Shape 12"/>
          <p:cNvSpPr/>
          <p:nvPr/>
        </p:nvSpPr>
        <p:spPr>
          <a:xfrm>
            <a:off x="6372860" y="1757680"/>
            <a:ext cx="2089150" cy="2413000"/>
          </a:xfrm>
          <a:prstGeom prst="roundRect">
            <a:avLst>
              <a:gd name="adj" fmla="val 4863"/>
            </a:avLst>
          </a:prstGeom>
          <a:solidFill>
            <a:srgbClr val="FBECD8"/>
          </a:solidFill>
          <a:ln/>
        </p:spPr>
      </p:sp>
      <p:pic>
        <p:nvPicPr>
          <p:cNvPr id="17" name="Image 2" descr="Biscuit, a brown dog with a red collar and angry little eyebrows">    </p:cNvPr>
          <p:cNvPicPr>
            <a:picLocks noChangeAspect="1"/>
          </p:cNvPicPr>
          <p:nvPr/>
        </p:nvPicPr>
        <p:blipFill>
          <a:blip r:embed="rId3"/>
          <a:stretch>
            <a:fillRect/>
          </a:stretch>
        </p:blipFill>
        <p:spPr>
          <a:xfrm>
            <a:off x="6372860" y="1919605"/>
            <a:ext cx="2089150" cy="2089150"/>
          </a:xfrm>
          <a:prstGeom prst="rect">
            <a:avLst/>
          </a:prstGeom>
        </p:spPr>
      </p:pic>
      <p:sp>
        <p:nvSpPr>
          <p:cNvPr id="18" name="Text 13"/>
          <p:cNvSpPr/>
          <p:nvPr/>
        </p:nvSpPr>
        <p:spPr>
          <a:xfrm>
            <a:off x="637286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46A12"/>
                </a:solidFill>
                <a:latin typeface="Nunito Sans" pitchFamily="34" charset="0"/>
                <a:ea typeface="Nunito Sans" pitchFamily="34" charset="-122"/>
                <a:cs typeface="Nunito Sans" pitchFamily="34" charset="-120"/>
              </a:rPr>
              <a:t>THE DON’S DOG</a:t>
            </a:r>
            <a:endParaRPr lang="en-US" sz="1200" dirty="0"/>
          </a:p>
        </p:txBody>
      </p:sp>
      <p:sp>
        <p:nvSpPr>
          <p:cNvPr id="19" name="Text 14"/>
          <p:cNvSpPr/>
          <p:nvPr/>
        </p:nvSpPr>
        <p:spPr>
          <a:xfrm>
            <a:off x="637286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Biscuit</a:t>
            </a:r>
            <a:endParaRPr lang="en-US" sz="2200" dirty="0"/>
          </a:p>
        </p:txBody>
      </p:sp>
      <p:sp>
        <p:nvSpPr>
          <p:cNvPr id="20" name="Text 15"/>
          <p:cNvSpPr/>
          <p:nvPr/>
        </p:nvSpPr>
        <p:spPr>
          <a:xfrm>
            <a:off x="637286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Chases Bill down the forest road. Clip a log and he gains on you.</a:t>
            </a:r>
            <a:endParaRPr lang="en-US" sz="1300" dirty="0"/>
          </a:p>
        </p:txBody>
      </p:sp>
      <p:sp>
        <p:nvSpPr>
          <p:cNvPr id="21" name="Shape 16"/>
          <p:cNvSpPr/>
          <p:nvPr/>
        </p:nvSpPr>
        <p:spPr>
          <a:xfrm>
            <a:off x="8877300" y="1576070"/>
            <a:ext cx="2495550" cy="4218940"/>
          </a:xfrm>
          <a:prstGeom prst="roundRect">
            <a:avLst>
              <a:gd name="adj" fmla="val 5852"/>
            </a:avLst>
          </a:prstGeom>
          <a:solidFill>
            <a:srgbClr val="FFFAF0"/>
          </a:solidFill>
          <a:ln w="12700">
            <a:solidFill>
              <a:srgbClr val="CFE3EF"/>
            </a:solidFill>
            <a:prstDash val="solid"/>
          </a:ln>
        </p:spPr>
      </p:sp>
      <p:sp>
        <p:nvSpPr>
          <p:cNvPr id="22" name="Shape 17"/>
          <p:cNvSpPr/>
          <p:nvPr/>
        </p:nvSpPr>
        <p:spPr>
          <a:xfrm>
            <a:off x="9058910" y="1757680"/>
            <a:ext cx="1016000" cy="2413000"/>
          </a:xfrm>
          <a:prstGeom prst="roundRect">
            <a:avLst>
              <a:gd name="adj" fmla="val 10000"/>
            </a:avLst>
          </a:prstGeom>
          <a:solidFill>
            <a:srgbClr val="D6EEF6"/>
          </a:solidFill>
          <a:ln/>
        </p:spPr>
      </p:sp>
      <p:pic>
        <p:nvPicPr>
          <p:cNvPr id="23" name="Image 3" descr="A pink jellyfish">    </p:cNvPr>
          <p:cNvPicPr>
            <a:picLocks noChangeAspect="1"/>
          </p:cNvPicPr>
          <p:nvPr/>
        </p:nvPicPr>
        <p:blipFill>
          <a:blip r:embed="rId4"/>
          <a:stretch>
            <a:fillRect/>
          </a:stretch>
        </p:blipFill>
        <p:spPr>
          <a:xfrm>
            <a:off x="9058910" y="2456180"/>
            <a:ext cx="1016000" cy="1016000"/>
          </a:xfrm>
          <a:prstGeom prst="rect">
            <a:avLst/>
          </a:prstGeom>
        </p:spPr>
      </p:pic>
      <p:sp>
        <p:nvSpPr>
          <p:cNvPr id="24" name="Shape 18"/>
          <p:cNvSpPr/>
          <p:nvPr/>
        </p:nvSpPr>
        <p:spPr>
          <a:xfrm>
            <a:off x="10132060" y="1757680"/>
            <a:ext cx="1016000" cy="2413000"/>
          </a:xfrm>
          <a:prstGeom prst="roundRect">
            <a:avLst>
              <a:gd name="adj" fmla="val 10000"/>
            </a:avLst>
          </a:prstGeom>
          <a:solidFill>
            <a:srgbClr val="D6EEF6"/>
          </a:solidFill>
          <a:ln/>
        </p:spPr>
      </p:sp>
      <p:pic>
        <p:nvPicPr>
          <p:cNvPr id="25" name="Image 4" descr="A spiky yellow pufferfish">    </p:cNvPr>
          <p:cNvPicPr>
            <a:picLocks noChangeAspect="1"/>
          </p:cNvPicPr>
          <p:nvPr/>
        </p:nvPicPr>
        <p:blipFill>
          <a:blip r:embed="rId5"/>
          <a:stretch>
            <a:fillRect/>
          </a:stretch>
        </p:blipFill>
        <p:spPr>
          <a:xfrm>
            <a:off x="10132060" y="2456180"/>
            <a:ext cx="1016000" cy="1016000"/>
          </a:xfrm>
          <a:prstGeom prst="rect">
            <a:avLst/>
          </a:prstGeom>
        </p:spPr>
      </p:pic>
      <p:sp>
        <p:nvSpPr>
          <p:cNvPr id="26" name="Text 19"/>
          <p:cNvSpPr/>
          <p:nvPr/>
        </p:nvSpPr>
        <p:spPr>
          <a:xfrm>
            <a:off x="9058910" y="4246880"/>
            <a:ext cx="21963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7D4F"/>
                </a:solidFill>
                <a:latin typeface="Nunito Sans" pitchFamily="34" charset="0"/>
                <a:ea typeface="Nunito Sans" pitchFamily="34" charset="-122"/>
                <a:cs typeface="Nunito Sans" pitchFamily="34" charset="-120"/>
              </a:rPr>
              <a:t>THE POND LOCALS</a:t>
            </a:r>
            <a:endParaRPr lang="en-US" sz="1200" dirty="0"/>
          </a:p>
        </p:txBody>
      </p:sp>
      <p:sp>
        <p:nvSpPr>
          <p:cNvPr id="27" name="Text 20"/>
          <p:cNvSpPr/>
          <p:nvPr/>
        </p:nvSpPr>
        <p:spPr>
          <a:xfrm>
            <a:off x="9058910" y="4536441"/>
            <a:ext cx="219630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D2433"/>
                </a:solidFill>
                <a:latin typeface="Fredoka" pitchFamily="34" charset="0"/>
                <a:ea typeface="Fredoka" pitchFamily="34" charset="-122"/>
                <a:cs typeface="Fredoka" pitchFamily="34" charset="-120"/>
              </a:rPr>
              <a:t>Jelly &amp; Puff</a:t>
            </a:r>
            <a:endParaRPr lang="en-US" sz="2200" dirty="0"/>
          </a:p>
        </p:txBody>
      </p:sp>
      <p:sp>
        <p:nvSpPr>
          <p:cNvPr id="28" name="Text 21"/>
          <p:cNvSpPr/>
          <p:nvPr/>
        </p:nvSpPr>
        <p:spPr>
          <a:xfrm>
            <a:off x="9058910" y="4919980"/>
            <a:ext cx="21963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C"/>
                </a:solidFill>
                <a:latin typeface="Nunito Sans" pitchFamily="34" charset="0"/>
                <a:ea typeface="Nunito Sans" pitchFamily="34" charset="-122"/>
                <a:cs typeface="Nunito Sans" pitchFamily="34" charset="-120"/>
              </a:rPr>
              <a:t>Drift through the swim. Bump one and it costs you 5 coins.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It all started in our notebook</a:t>
            </a:r>
            <a:endParaRPr lang="en-US" sz="3600" dirty="0"/>
          </a:p>
        </p:txBody>
      </p:sp>
      <p:pic>
        <p:nvPicPr>
          <p:cNvPr id="3" name="Image 0" descr="Notebook page titled The character: pen sketches of Bill the duck from the side and the front, in a cap and tie, with the names Ducker crossed out and Bill the duck circled">    </p:cNvPr>
          <p:cNvPicPr>
            <a:picLocks noChangeAspect="1"/>
          </p:cNvPicPr>
          <p:nvPr/>
        </p:nvPicPr>
        <p:blipFill>
          <a:blip r:embed="rId1"/>
          <a:srcRect l="2976" r="2976" t="0" b="0"/>
          <a:stretch/>
        </p:blipFill>
        <p:spPr>
          <a:xfrm>
            <a:off x="81280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4" name="Shape 1"/>
          <p:cNvSpPr/>
          <p:nvPr/>
        </p:nvSpPr>
        <p:spPr>
          <a:xfrm>
            <a:off x="812800" y="5252721"/>
            <a:ext cx="635000" cy="635000"/>
          </a:xfrm>
          <a:prstGeom prst="roundRect">
            <a:avLst>
              <a:gd name="adj" fmla="val 12000"/>
            </a:avLst>
          </a:prstGeom>
          <a:solidFill>
            <a:srgbClr val="DCEEFA"/>
          </a:solidFill>
          <a:ln/>
        </p:spPr>
      </p:sp>
      <p:pic>
        <p:nvPicPr>
          <p:cNvPr id="5" name="Image 1" descr="Bill’s 3D model">    </p:cNvPr>
          <p:cNvPicPr>
            <a:picLocks noChangeAspect="1"/>
          </p:cNvPicPr>
          <p:nvPr/>
        </p:nvPicPr>
        <p:blipFill>
          <a:blip r:embed="rId2"/>
          <a:srcRect l="0" r="0" t="0" b="0"/>
          <a:stretch/>
        </p:blipFill>
        <p:spPr>
          <a:xfrm>
            <a:off x="812800" y="5252721"/>
            <a:ext cx="635000" cy="635000"/>
          </a:xfrm>
          <a:prstGeom prst="roundRect">
            <a:avLst>
              <a:gd name="adj" fmla="val 12000"/>
            </a:avLst>
          </a:prstGeom>
        </p:spPr>
      </p:pic>
      <p:sp>
        <p:nvSpPr>
          <p:cNvPr id="6" name="Text 2"/>
          <p:cNvSpPr/>
          <p:nvPr/>
        </p:nvSpPr>
        <p:spPr>
          <a:xfrm>
            <a:off x="154940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Bill</a:t>
            </a:r>
            <a:endParaRPr lang="en-US" sz="1700" dirty="0"/>
          </a:p>
        </p:txBody>
      </p:sp>
      <p:sp>
        <p:nvSpPr>
          <p:cNvPr id="7" name="Text 3"/>
          <p:cNvSpPr/>
          <p:nvPr/>
        </p:nvSpPr>
        <p:spPr>
          <a:xfrm>
            <a:off x="154940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Front and side views. Bill beat “Ducker”.</a:t>
            </a:r>
            <a:endParaRPr lang="en-US" sz="1200" dirty="0"/>
          </a:p>
        </p:txBody>
      </p:sp>
      <p:pic>
        <p:nvPicPr>
          <p:cNvPr id="8" name="Image 2" descr="Notebook page titled The boss: pen sketches of Don Crumbs, a pigeon with a gun from the side, and from the front in a hat, pinstripe suit and tie, smoking a cigar and holding a tommy gun">    </p:cNvPr>
          <p:cNvPicPr>
            <a:picLocks noChangeAspect="1"/>
          </p:cNvPicPr>
          <p:nvPr/>
        </p:nvPicPr>
        <p:blipFill>
          <a:blip r:embed="rId3"/>
          <a:srcRect l="2976" r="2976" t="0" b="0"/>
          <a:stretch/>
        </p:blipFill>
        <p:spPr>
          <a:xfrm>
            <a:off x="349885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9" name="Shape 4"/>
          <p:cNvSpPr/>
          <p:nvPr/>
        </p:nvSpPr>
        <p:spPr>
          <a:xfrm>
            <a:off x="3498850" y="5252721"/>
            <a:ext cx="635000" cy="635000"/>
          </a:xfrm>
          <a:prstGeom prst="roundRect">
            <a:avLst>
              <a:gd name="adj" fmla="val 12000"/>
            </a:avLst>
          </a:prstGeom>
          <a:solidFill>
            <a:srgbClr val="F6E4E2"/>
          </a:solidFill>
          <a:ln/>
        </p:spPr>
      </p:sp>
      <p:pic>
        <p:nvPicPr>
          <p:cNvPr id="10" name="Image 3" descr="Don Crumbs’s 3D model">    </p:cNvPr>
          <p:cNvPicPr>
            <a:picLocks noChangeAspect="1"/>
          </p:cNvPicPr>
          <p:nvPr/>
        </p:nvPicPr>
        <p:blipFill>
          <a:blip r:embed="rId4"/>
          <a:srcRect l="0" r="0" t="0" b="0"/>
          <a:stretch/>
        </p:blipFill>
        <p:spPr>
          <a:xfrm>
            <a:off x="3498850" y="5252721"/>
            <a:ext cx="635000" cy="635000"/>
          </a:xfrm>
          <a:prstGeom prst="roundRect">
            <a:avLst>
              <a:gd name="adj" fmla="val 12000"/>
            </a:avLst>
          </a:prstGeom>
        </p:spPr>
      </p:pic>
      <p:sp>
        <p:nvSpPr>
          <p:cNvPr id="11" name="Text 5"/>
          <p:cNvSpPr/>
          <p:nvPr/>
        </p:nvSpPr>
        <p:spPr>
          <a:xfrm>
            <a:off x="423545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Don Crumbs</a:t>
            </a:r>
            <a:endParaRPr lang="en-US" sz="1700" dirty="0"/>
          </a:p>
        </p:txBody>
      </p:sp>
      <p:sp>
        <p:nvSpPr>
          <p:cNvPr id="12" name="Text 6"/>
          <p:cNvSpPr/>
          <p:nvPr/>
        </p:nvSpPr>
        <p:spPr>
          <a:xfrm>
            <a:off x="423545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Hat, cigar and tommy gun, from day one.</a:t>
            </a:r>
            <a:endParaRPr lang="en-US" sz="1200" dirty="0"/>
          </a:p>
        </p:txBody>
      </p:sp>
      <p:pic>
        <p:nvPicPr>
          <p:cNvPr id="13" name="Image 4" descr="Notebook page titled The dog: a pen sketch of a dog in a spiked collar and an angry close-up with sharp teeth, with name ideas Crumbie, Woofie and Kutta crossed out and Woof and Biscuits starred">    </p:cNvPr>
          <p:cNvPicPr>
            <a:picLocks noChangeAspect="1"/>
          </p:cNvPicPr>
          <p:nvPr/>
        </p:nvPicPr>
        <p:blipFill>
          <a:blip r:embed="rId5"/>
          <a:srcRect l="2976" r="2976" t="0" b="0"/>
          <a:stretch/>
        </p:blipFill>
        <p:spPr>
          <a:xfrm>
            <a:off x="618490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14" name="Shape 7"/>
          <p:cNvSpPr/>
          <p:nvPr/>
        </p:nvSpPr>
        <p:spPr>
          <a:xfrm>
            <a:off x="6184900" y="5252721"/>
            <a:ext cx="635000" cy="635000"/>
          </a:xfrm>
          <a:prstGeom prst="roundRect">
            <a:avLst>
              <a:gd name="adj" fmla="val 12000"/>
            </a:avLst>
          </a:prstGeom>
          <a:solidFill>
            <a:srgbClr val="FBECD8"/>
          </a:solidFill>
          <a:ln/>
        </p:spPr>
      </p:sp>
      <p:pic>
        <p:nvPicPr>
          <p:cNvPr id="15" name="Image 5" descr="Biscuit’s 3D model">    </p:cNvPr>
          <p:cNvPicPr>
            <a:picLocks noChangeAspect="1"/>
          </p:cNvPicPr>
          <p:nvPr/>
        </p:nvPicPr>
        <p:blipFill>
          <a:blip r:embed="rId6"/>
          <a:srcRect l="0" r="0" t="0" b="0"/>
          <a:stretch/>
        </p:blipFill>
        <p:spPr>
          <a:xfrm>
            <a:off x="6184900" y="5252721"/>
            <a:ext cx="635000" cy="635000"/>
          </a:xfrm>
          <a:prstGeom prst="roundRect">
            <a:avLst>
              <a:gd name="adj" fmla="val 12000"/>
            </a:avLst>
          </a:prstGeom>
        </p:spPr>
      </p:pic>
      <p:sp>
        <p:nvSpPr>
          <p:cNvPr id="16" name="Text 8"/>
          <p:cNvSpPr/>
          <p:nvPr/>
        </p:nvSpPr>
        <p:spPr>
          <a:xfrm>
            <a:off x="692150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Biscuit</a:t>
            </a:r>
            <a:endParaRPr lang="en-US" sz="1700" dirty="0"/>
          </a:p>
        </p:txBody>
      </p:sp>
      <p:sp>
        <p:nvSpPr>
          <p:cNvPr id="17" name="Text 9"/>
          <p:cNvSpPr/>
          <p:nvPr/>
        </p:nvSpPr>
        <p:spPr>
          <a:xfrm>
            <a:off x="692150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Beat Crumbie, Woofie and Kutta to the name.</a:t>
            </a:r>
            <a:endParaRPr lang="en-US" sz="1200" dirty="0"/>
          </a:p>
        </p:txBody>
      </p:sp>
      <p:pic>
        <p:nvPicPr>
          <p:cNvPr id="18" name="Image 6" descr="Notebook page titled The pond (underwater): Under sea and Bonus stage crossed out, and pen sketches of a jellyfish and a spiky pufferfish labelled jelly and puffer, marked as obstacles">    </p:cNvPr>
          <p:cNvPicPr>
            <a:picLocks noChangeAspect="1"/>
          </p:cNvPicPr>
          <p:nvPr/>
        </p:nvPicPr>
        <p:blipFill>
          <a:blip r:embed="rId7"/>
          <a:srcRect l="2976" r="2976" t="0" b="0"/>
          <a:stretch/>
        </p:blipFill>
        <p:spPr>
          <a:xfrm>
            <a:off x="8870950" y="1569721"/>
            <a:ext cx="2508250" cy="3556000"/>
          </a:xfrm>
          <a:prstGeom prst="roundRect">
            <a:avLst>
              <a:gd name="adj" fmla="val 4051"/>
            </a:avLst>
          </a:prstGeom>
          <a:effectLst>
            <a:outerShdw sx="100000" sy="100000" kx="0" ky="0" algn="bl" rotWithShape="0" blurRad="203200" dist="76200" dir="5400000">
              <a:srgbClr val="1D2433">
                <a:alpha val="22000"/>
              </a:srgbClr>
            </a:outerShdw>
          </a:effectLst>
        </p:spPr>
      </p:pic>
      <p:sp>
        <p:nvSpPr>
          <p:cNvPr id="19" name="Shape 10"/>
          <p:cNvSpPr/>
          <p:nvPr/>
        </p:nvSpPr>
        <p:spPr>
          <a:xfrm>
            <a:off x="8870950" y="5252721"/>
            <a:ext cx="635000" cy="635000"/>
          </a:xfrm>
          <a:prstGeom prst="roundRect">
            <a:avLst>
              <a:gd name="adj" fmla="val 12000"/>
            </a:avLst>
          </a:prstGeom>
          <a:solidFill>
            <a:srgbClr val="D6EEF6"/>
          </a:solidFill>
          <a:ln/>
        </p:spPr>
      </p:sp>
      <p:pic>
        <p:nvPicPr>
          <p:cNvPr id="20" name="Image 7" descr="The pufferfish’s 3D model">    </p:cNvPr>
          <p:cNvPicPr>
            <a:picLocks noChangeAspect="1"/>
          </p:cNvPicPr>
          <p:nvPr/>
        </p:nvPicPr>
        <p:blipFill>
          <a:blip r:embed="rId8"/>
          <a:srcRect l="0" r="0" t="0" b="0"/>
          <a:stretch/>
        </p:blipFill>
        <p:spPr>
          <a:xfrm>
            <a:off x="8870950" y="5252721"/>
            <a:ext cx="635000" cy="635000"/>
          </a:xfrm>
          <a:prstGeom prst="roundRect">
            <a:avLst>
              <a:gd name="adj" fmla="val 12000"/>
            </a:avLst>
          </a:prstGeom>
        </p:spPr>
      </p:pic>
      <p:sp>
        <p:nvSpPr>
          <p:cNvPr id="21" name="Text 11"/>
          <p:cNvSpPr/>
          <p:nvPr/>
        </p:nvSpPr>
        <p:spPr>
          <a:xfrm>
            <a:off x="9607550" y="5252721"/>
            <a:ext cx="1824800" cy="262890"/>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D2433"/>
                </a:solidFill>
                <a:latin typeface="Fredoka" pitchFamily="34" charset="0"/>
                <a:ea typeface="Fredoka" pitchFamily="34" charset="-122"/>
                <a:cs typeface="Fredoka" pitchFamily="34" charset="-120"/>
              </a:rPr>
              <a:t>The pond</a:t>
            </a:r>
            <a:endParaRPr lang="en-US" sz="1700" dirty="0"/>
          </a:p>
        </p:txBody>
      </p:sp>
      <p:sp>
        <p:nvSpPr>
          <p:cNvPr id="22" name="Text 12"/>
          <p:cNvSpPr/>
          <p:nvPr/>
        </p:nvSpPr>
        <p:spPr>
          <a:xfrm>
            <a:off x="9607550" y="5528311"/>
            <a:ext cx="18248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4F5C"/>
                </a:solidFill>
                <a:latin typeface="Nunito Sans" pitchFamily="34" charset="0"/>
                <a:ea typeface="Nunito Sans" pitchFamily="34" charset="-122"/>
                <a:cs typeface="Nunito Sans" pitchFamily="34" charset="-120"/>
              </a:rPr>
              <a:t>“Under sea” and “bonus stage” became the pond.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One run, four stages</a:t>
            </a:r>
            <a:endParaRPr lang="en-US" sz="3600" dirty="0"/>
          </a:p>
        </p:txBody>
      </p:sp>
      <p:sp>
        <p:nvSpPr>
          <p:cNvPr id="3" name="Shape 1"/>
          <p:cNvSpPr/>
          <p:nvPr/>
        </p:nvSpPr>
        <p:spPr>
          <a:xfrm>
            <a:off x="812800" y="1671321"/>
            <a:ext cx="2489200" cy="2377440"/>
          </a:xfrm>
          <a:prstGeom prst="roundRect">
            <a:avLst>
              <a:gd name="adj" fmla="val 6410"/>
            </a:avLst>
          </a:prstGeom>
          <a:solidFill>
            <a:srgbClr val="8A5D36"/>
          </a:solidFill>
          <a:ln/>
        </p:spPr>
      </p:sp>
      <p:sp>
        <p:nvSpPr>
          <p:cNvPr id="4" name="Text 2"/>
          <p:cNvSpPr/>
          <p:nvPr/>
        </p:nvSpPr>
        <p:spPr>
          <a:xfrm>
            <a:off x="1066800" y="1925321"/>
            <a:ext cx="2040636" cy="4876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FE9B8"/>
                </a:solidFill>
                <a:latin typeface="Nunito Sans" pitchFamily="34" charset="0"/>
                <a:ea typeface="Nunito Sans" pitchFamily="34" charset="-122"/>
                <a:cs typeface="Nunito Sans" pitchFamily="34" charset="-120"/>
              </a:rPr>
              <a:t>STAGE 1 · FOREST ROAD</a:t>
            </a:r>
            <a:endParaRPr lang="en-US" sz="1300" dirty="0"/>
          </a:p>
        </p:txBody>
      </p:sp>
      <p:sp>
        <p:nvSpPr>
          <p:cNvPr id="5" name="Text 3"/>
          <p:cNvSpPr/>
          <p:nvPr/>
        </p:nvSpPr>
        <p:spPr>
          <a:xfrm>
            <a:off x="1066800" y="2489200"/>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~20 s</a:t>
            </a:r>
            <a:endParaRPr lang="en-US" sz="3600" dirty="0"/>
          </a:p>
        </p:txBody>
      </p:sp>
      <p:sp>
        <p:nvSpPr>
          <p:cNvPr id="6" name="Text 4"/>
          <p:cNvSpPr/>
          <p:nvPr/>
        </p:nvSpPr>
        <p:spPr>
          <a:xfrm>
            <a:off x="1066800" y="3048000"/>
            <a:ext cx="204063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Dodge the logs. Hit one and Biscuit catches up.</a:t>
            </a:r>
            <a:endParaRPr lang="en-US" sz="1400" dirty="0"/>
          </a:p>
        </p:txBody>
      </p:sp>
      <p:sp>
        <p:nvSpPr>
          <p:cNvPr id="7" name="Shape 5"/>
          <p:cNvSpPr/>
          <p:nvPr/>
        </p:nvSpPr>
        <p:spPr>
          <a:xfrm>
            <a:off x="3505200" y="1671321"/>
            <a:ext cx="2489200" cy="2377440"/>
          </a:xfrm>
          <a:prstGeom prst="roundRect">
            <a:avLst>
              <a:gd name="adj" fmla="val 6410"/>
            </a:avLst>
          </a:prstGeom>
          <a:solidFill>
            <a:srgbClr val="1F6F99"/>
          </a:solidFill>
          <a:ln/>
        </p:spPr>
      </p:sp>
      <p:sp>
        <p:nvSpPr>
          <p:cNvPr id="8" name="Text 6"/>
          <p:cNvSpPr/>
          <p:nvPr/>
        </p:nvSpPr>
        <p:spPr>
          <a:xfrm>
            <a:off x="3759200" y="1925321"/>
            <a:ext cx="2040636"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DEEFF"/>
                </a:solidFill>
                <a:latin typeface="Nunito Sans" pitchFamily="34" charset="0"/>
                <a:ea typeface="Nunito Sans" pitchFamily="34" charset="-122"/>
                <a:cs typeface="Nunito Sans" pitchFamily="34" charset="-120"/>
              </a:rPr>
              <a:t>UNDERWATER</a:t>
            </a:r>
            <a:endParaRPr lang="en-US" sz="1300" dirty="0"/>
          </a:p>
        </p:txBody>
      </p:sp>
      <p:sp>
        <p:nvSpPr>
          <p:cNvPr id="9" name="Text 7"/>
          <p:cNvSpPr/>
          <p:nvPr/>
        </p:nvSpPr>
        <p:spPr>
          <a:xfrm>
            <a:off x="3759200" y="2258061"/>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~15 s</a:t>
            </a:r>
            <a:endParaRPr lang="en-US" sz="3600" dirty="0"/>
          </a:p>
        </p:txBody>
      </p:sp>
      <p:sp>
        <p:nvSpPr>
          <p:cNvPr id="10" name="Text 8"/>
          <p:cNvSpPr/>
          <p:nvPr/>
        </p:nvSpPr>
        <p:spPr>
          <a:xfrm>
            <a:off x="3759200" y="2816861"/>
            <a:ext cx="204063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Grab coins, dodge the locals. A dollar on a hook pulls Bill back out.</a:t>
            </a:r>
            <a:endParaRPr lang="en-US" sz="1400" dirty="0"/>
          </a:p>
        </p:txBody>
      </p:sp>
      <p:sp>
        <p:nvSpPr>
          <p:cNvPr id="11" name="Shape 9"/>
          <p:cNvSpPr/>
          <p:nvPr/>
        </p:nvSpPr>
        <p:spPr>
          <a:xfrm>
            <a:off x="6197600" y="1671321"/>
            <a:ext cx="2489200" cy="2377440"/>
          </a:xfrm>
          <a:prstGeom prst="roundRect">
            <a:avLst>
              <a:gd name="adj" fmla="val 6410"/>
            </a:avLst>
          </a:prstGeom>
          <a:solidFill>
            <a:srgbClr val="6E4A2B"/>
          </a:solidFill>
          <a:ln/>
        </p:spPr>
      </p:sp>
      <p:sp>
        <p:nvSpPr>
          <p:cNvPr id="12" name="Text 10"/>
          <p:cNvSpPr/>
          <p:nvPr/>
        </p:nvSpPr>
        <p:spPr>
          <a:xfrm>
            <a:off x="6451600" y="1925321"/>
            <a:ext cx="2040636" cy="4876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FE9B8"/>
                </a:solidFill>
                <a:latin typeface="Nunito Sans" pitchFamily="34" charset="0"/>
                <a:ea typeface="Nunito Sans" pitchFamily="34" charset="-122"/>
                <a:cs typeface="Nunito Sans" pitchFamily="34" charset="-120"/>
              </a:rPr>
              <a:t>STAGE 2 · BACK ON THE ROAD</a:t>
            </a:r>
            <a:endParaRPr lang="en-US" sz="1300" dirty="0"/>
          </a:p>
        </p:txBody>
      </p:sp>
      <p:sp>
        <p:nvSpPr>
          <p:cNvPr id="13" name="Text 11"/>
          <p:cNvSpPr/>
          <p:nvPr/>
        </p:nvSpPr>
        <p:spPr>
          <a:xfrm>
            <a:off x="6451600" y="2489200"/>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~15 s</a:t>
            </a:r>
            <a:endParaRPr lang="en-US" sz="3600" dirty="0"/>
          </a:p>
        </p:txBody>
      </p:sp>
      <p:sp>
        <p:nvSpPr>
          <p:cNvPr id="14" name="Text 12"/>
          <p:cNvSpPr/>
          <p:nvPr/>
        </p:nvSpPr>
        <p:spPr>
          <a:xfrm>
            <a:off x="6451600" y="3048000"/>
            <a:ext cx="204063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Faster now. Breadcrumbs for points, a heart for a life.</a:t>
            </a:r>
            <a:endParaRPr lang="en-US" sz="1400" dirty="0"/>
          </a:p>
        </p:txBody>
      </p:sp>
      <p:sp>
        <p:nvSpPr>
          <p:cNvPr id="15" name="Shape 13"/>
          <p:cNvSpPr/>
          <p:nvPr/>
        </p:nvSpPr>
        <p:spPr>
          <a:xfrm>
            <a:off x="8890000" y="1671321"/>
            <a:ext cx="2489200" cy="2377440"/>
          </a:xfrm>
          <a:prstGeom prst="roundRect">
            <a:avLst>
              <a:gd name="adj" fmla="val 6410"/>
            </a:avLst>
          </a:prstGeom>
          <a:solidFill>
            <a:srgbClr val="5A2430"/>
          </a:solidFill>
          <a:ln/>
        </p:spPr>
      </p:sp>
      <p:sp>
        <p:nvSpPr>
          <p:cNvPr id="16" name="Text 14"/>
          <p:cNvSpPr/>
          <p:nvPr/>
        </p:nvSpPr>
        <p:spPr>
          <a:xfrm>
            <a:off x="9144000" y="1925321"/>
            <a:ext cx="2235200"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FD0D8"/>
                </a:solidFill>
                <a:latin typeface="Nunito Sans" pitchFamily="34" charset="0"/>
                <a:ea typeface="Nunito Sans" pitchFamily="34" charset="-122"/>
                <a:cs typeface="Nunito Sans" pitchFamily="34" charset="-120"/>
              </a:rPr>
              <a:t>BOSS · DON CRUMBS</a:t>
            </a:r>
            <a:endParaRPr lang="en-US" sz="1300" dirty="0"/>
          </a:p>
        </p:txBody>
      </p:sp>
      <p:sp>
        <p:nvSpPr>
          <p:cNvPr id="17" name="Text 15"/>
          <p:cNvSpPr/>
          <p:nvPr/>
        </p:nvSpPr>
        <p:spPr>
          <a:xfrm>
            <a:off x="9144000" y="2258061"/>
            <a:ext cx="20406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FAF0"/>
                </a:solidFill>
                <a:latin typeface="Fredoka" pitchFamily="34" charset="0"/>
                <a:ea typeface="Fredoka" pitchFamily="34" charset="-122"/>
                <a:cs typeface="Fredoka" pitchFamily="34" charset="-120"/>
              </a:rPr>
              <a:t>FIRE!</a:t>
            </a:r>
            <a:endParaRPr lang="en-US" sz="3600" dirty="0"/>
          </a:p>
        </p:txBody>
      </p:sp>
      <p:sp>
        <p:nvSpPr>
          <p:cNvPr id="18" name="Text 16"/>
          <p:cNvSpPr/>
          <p:nvPr/>
        </p:nvSpPr>
        <p:spPr>
          <a:xfrm>
            <a:off x="9144000" y="2816861"/>
            <a:ext cx="204063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AF0"/>
                </a:solidFill>
                <a:latin typeface="Nunito Sans" pitchFamily="34" charset="0"/>
                <a:ea typeface="Nunito Sans" pitchFamily="34" charset="-122"/>
                <a:cs typeface="Nunito Sans" pitchFamily="34" charset="-120"/>
              </a:rPr>
              <a:t>Dodge three shots, then Ready… Aim… hit FIRE fast.</a:t>
            </a:r>
            <a:endParaRPr lang="en-US" sz="1400" dirty="0"/>
          </a:p>
        </p:txBody>
      </p:sp>
      <p:sp>
        <p:nvSpPr>
          <p:cNvPr id="19" name="Text 17"/>
          <p:cNvSpPr/>
          <p:nvPr/>
        </p:nvSpPr>
        <p:spPr>
          <a:xfrm>
            <a:off x="812800" y="440436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C"/>
                </a:solidFill>
                <a:latin typeface="Nunito Sans" pitchFamily="34" charset="0"/>
                <a:ea typeface="Nunito Sans" pitchFamily="34" charset="-122"/>
                <a:cs typeface="Nunito Sans" pitchFamily="34" charset="-120"/>
              </a:rPr>
              <a:t>About a minute to the boss. Three lives. Your score counts how far you got, coins and breadcrumbs, with a big bonus for beating the Don.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1399539"/>
            <a:ext cx="5703316"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Two buttons. Really.</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41221"/>
          <a:ext cx="5527040" cy="1310640"/>
        </p:xfrm>
        <a:graphic>
          <a:graphicData uri="http://schemas.openxmlformats.org/drawingml/2006/table">
            <a:tbl>
              <a:tblPr/>
              <a:tblGrid>
                <a:gridCol w="1547571"/>
                <a:gridCol w="1989734"/>
                <a:gridCol w="1989734"/>
              </a:tblGrid>
              <a:tr h="436880">
                <a:tc>
                  <a:txBody>
                    <a:bodyPr/>
                    <a:lstStyle/>
                    <a:p>
                      <a:pPr indent="0" marL="0">
                        <a:lnSpc>
                          <a:spcPts val="2240"/>
                        </a:lnSpc>
                        <a:buNone/>
                      </a:pP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2240"/>
                        </a:lnSpc>
                        <a:buNone/>
                      </a:pPr>
                      <a:r>
                        <a:rPr lang="en-US" sz="1600" b="1" dirty="0">
                          <a:solidFill>
                            <a:srgbClr val="1D2433"/>
                          </a:solidFill>
                          <a:latin typeface="Nunito Sans" pitchFamily="34" charset="0"/>
                          <a:ea typeface="Nunito Sans" pitchFamily="34" charset="-122"/>
                          <a:cs typeface="Nunito Sans" pitchFamily="34" charset="-120"/>
                        </a:rPr>
                        <a:t>Left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2240"/>
                        </a:lnSpc>
                        <a:buNone/>
                      </a:pPr>
                      <a:r>
                        <a:rPr lang="en-US" sz="1600" b="1" dirty="0">
                          <a:solidFill>
                            <a:srgbClr val="1D2433"/>
                          </a:solidFill>
                          <a:latin typeface="Nunito Sans" pitchFamily="34" charset="0"/>
                          <a:ea typeface="Nunito Sans" pitchFamily="34" charset="-122"/>
                          <a:cs typeface="Nunito Sans" pitchFamily="34" charset="-120"/>
                        </a:rPr>
                        <a:t>Right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436880">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Laptop</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A</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D</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7BF"/>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BC7BF"/>
                      </a:solidFill>
                      <a:prstDash val="solid"/>
                      <a:round/>
                      <a:headEnd type="none" w="med" len="med"/>
                      <a:tailEnd type="none" w="med" len="med"/>
                    </a:lnB>
                  </a:tcPr>
                </a:tc>
              </a:tr>
              <a:tr h="436880">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Phone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7BF"/>
                      </a:solidFill>
                      <a:prstDash val="solid"/>
                      <a:round/>
                      <a:headEnd type="none" w="med" len="med"/>
                      <a:tailEnd type="none" w="med" len="med"/>
                    </a:lnL>
                    <a:lnR w="12700" cap="flat" cmpd="sng" algn="ctr">
                      <a:solidFill>
                        <a:srgbClr val="CBC0AB"/>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0AB"/>
                      </a:solidFill>
                      <a:prstDash val="solid"/>
                      <a:round/>
                      <a:headEnd type="none" w="med" len="med"/>
                      <a:tailEnd type="none" w="med" len="med"/>
                    </a:lnB>
                    <a:solidFill>
                      <a:srgbClr val="FFF1D6"/>
                    </a:solidFill>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left half</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0AB"/>
                      </a:solidFill>
                      <a:prstDash val="solid"/>
                      <a:round/>
                      <a:headEnd type="none" w="med" len="med"/>
                      <a:tailEnd type="none" w="med" len="med"/>
                    </a:lnL>
                    <a:lnR w="12700" cap="flat" cmpd="sng" algn="ctr">
                      <a:solidFill>
                        <a:srgbClr val="CBC0AB"/>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0AB"/>
                      </a:solidFill>
                      <a:prstDash val="solid"/>
                      <a:round/>
                      <a:headEnd type="none" w="med" len="med"/>
                      <a:tailEnd type="none" w="med" len="med"/>
                    </a:lnB>
                    <a:solidFill>
                      <a:srgbClr val="FFF1D6"/>
                    </a:solidFill>
                  </a:tcPr>
                </a:tc>
                <a:tc>
                  <a:txBody>
                    <a:bodyPr/>
                    <a:lstStyle/>
                    <a:p>
                      <a:pPr indent="0" marL="0">
                        <a:lnSpc>
                          <a:spcPts val="2240"/>
                        </a:lnSpc>
                        <a:buNone/>
                      </a:pPr>
                      <a:r>
                        <a:rPr lang="en-US" sz="1600" dirty="0">
                          <a:solidFill>
                            <a:srgbClr val="1D2433"/>
                          </a:solidFill>
                          <a:latin typeface="Nunito Sans" pitchFamily="34" charset="0"/>
                          <a:ea typeface="Nunito Sans" pitchFamily="34" charset="-122"/>
                          <a:cs typeface="Nunito Sans" pitchFamily="34" charset="-120"/>
                        </a:rPr>
                        <a:t>right half</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BC0AB"/>
                      </a:solidFill>
                      <a:prstDash val="solid"/>
                      <a:round/>
                      <a:headEnd type="none" w="med" len="med"/>
                      <a:tailEnd type="none" w="med" len="med"/>
                    </a:lnL>
                    <a:lnR w="12700" cap="flat" cmpd="sng" algn="ctr">
                      <a:solidFill>
                        <a:srgbClr val="CBC0AB"/>
                      </a:solidFill>
                      <a:prstDash val="solid"/>
                      <a:round/>
                      <a:headEnd type="none" w="med" len="med"/>
                      <a:tailEnd type="none" w="med" len="med"/>
                    </a:lnR>
                    <a:lnT w="12700" cap="flat" cmpd="sng" algn="ctr">
                      <a:solidFill>
                        <a:srgbClr val="CBC7BF"/>
                      </a:solidFill>
                      <a:prstDash val="solid"/>
                      <a:round/>
                      <a:headEnd type="none" w="med" len="med"/>
                      <a:tailEnd type="none" w="med" len="med"/>
                    </a:lnT>
                    <a:lnB w="12700" cap="flat" cmpd="sng" algn="ctr">
                      <a:solidFill>
                        <a:srgbClr val="CBC0AB"/>
                      </a:solidFill>
                      <a:prstDash val="solid"/>
                      <a:round/>
                      <a:headEnd type="none" w="med" len="med"/>
                      <a:tailEnd type="none" w="med" len="med"/>
                    </a:lnB>
                    <a:solidFill>
                      <a:srgbClr val="FFF1D6"/>
                    </a:solidFill>
                  </a:tcPr>
                </a:tc>
              </a:tr>
            </a:tbl>
          </a:graphicData>
        </a:graphic>
      </p:graphicFrame>
      <p:sp>
        <p:nvSpPr>
          <p:cNvPr id="4" name="Text 1"/>
          <p:cNvSpPr/>
          <p:nvPr/>
        </p:nvSpPr>
        <p:spPr>
          <a:xfrm>
            <a:off x="876808" y="3680461"/>
            <a:ext cx="5631688"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4A4F5C"/>
                </a:solidFill>
                <a:latin typeface="Nunito Sans" pitchFamily="34" charset="0"/>
                <a:ea typeface="Nunito Sans" pitchFamily="34" charset="-122"/>
                <a:cs typeface="Nunito Sans" pitchFamily="34" charset="-120"/>
              </a:rPr>
              <a:t>Dodging: left and right change lane.</a:t>
            </a:r>
            <a:endParaRPr lang="en-US" sz="1600" dirty="0"/>
          </a:p>
          <a:p>
            <a:pPr algn="l" marL="189992" indent="-189992">
              <a:lnSpc>
                <a:spcPts val="2400"/>
              </a:lnSpc>
              <a:buSzPct val="100000"/>
              <a:buChar char="•"/>
            </a:pPr>
            <a:r>
              <a:rPr lang="en-US" sz="1600" dirty="0">
                <a:solidFill>
                  <a:srgbClr val="4A4F5C"/>
                </a:solidFill>
                <a:latin typeface="Nunito Sans" pitchFamily="34" charset="0"/>
                <a:ea typeface="Nunito Sans" pitchFamily="34" charset="-122"/>
                <a:cs typeface="Nunito Sans" pitchFamily="34" charset="-120"/>
              </a:rPr>
              <a:t>Boss: when FIRE flashes, </a:t>
            </a:r>
            <a:r>
              <a:rPr lang="en-US" sz="1600" b="1" dirty="0">
                <a:solidFill>
                  <a:srgbClr val="4A4F5C"/>
                </a:solidFill>
                <a:latin typeface="Nunito Sans" pitchFamily="34" charset="0"/>
                <a:ea typeface="Nunito Sans" pitchFamily="34" charset="-122"/>
                <a:cs typeface="Nunito Sans" pitchFamily="34" charset="-120"/>
              </a:rPr>
              <a:t>either</a:t>
            </a:r>
            <a:r>
              <a:rPr lang="en-US" sz="1600" dirty="0">
                <a:solidFill>
                  <a:srgbClr val="4A4F5C"/>
                </a:solidFill>
                <a:latin typeface="Nunito Sans" pitchFamily="34" charset="0"/>
                <a:ea typeface="Nunito Sans" pitchFamily="34" charset="-122"/>
                <a:cs typeface="Nunito Sans" pitchFamily="34" charset="-120"/>
              </a:rPr>
              <a:t> button fires.</a:t>
            </a:r>
            <a:endParaRPr lang="en-US" sz="1600" dirty="0"/>
          </a:p>
          <a:p>
            <a:pPr algn="l" marL="189992" indent="-189992">
              <a:lnSpc>
                <a:spcPts val="2400"/>
              </a:lnSpc>
              <a:buSzPct val="100000"/>
              <a:buChar char="•"/>
            </a:pPr>
            <a:r>
              <a:rPr lang="en-US" sz="1600" dirty="0">
                <a:solidFill>
                  <a:srgbClr val="4A4F5C"/>
                </a:solidFill>
                <a:latin typeface="Nunito Sans" pitchFamily="34" charset="0"/>
                <a:ea typeface="Nunito Sans" pitchFamily="34" charset="-122"/>
                <a:cs typeface="Nunito Sans" pitchFamily="34" charset="-120"/>
              </a:rPr>
              <a:t>Cards and cutscenes: either one continues.</a:t>
            </a:r>
            <a:endParaRPr lang="en-US" sz="1600" dirty="0"/>
          </a:p>
        </p:txBody>
      </p:sp>
      <p:sp>
        <p:nvSpPr>
          <p:cNvPr id="5" name="Text 2"/>
          <p:cNvSpPr/>
          <p:nvPr/>
        </p:nvSpPr>
        <p:spPr>
          <a:xfrm>
            <a:off x="812800" y="4823461"/>
            <a:ext cx="5703316"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C46A12"/>
                </a:solidFill>
                <a:latin typeface="Fredoka" pitchFamily="34" charset="0"/>
                <a:ea typeface="Fredoka" pitchFamily="34" charset="-122"/>
                <a:cs typeface="Fredoka" pitchFamily="34" charset="-120"/>
              </a:rPr>
              <a:t>Any two buttons work: one hand, two thumbs, or two accessibility switches.</a:t>
            </a:r>
            <a:endParaRPr lang="en-US" sz="2000" dirty="0"/>
          </a:p>
        </p:txBody>
      </p:sp>
      <p:pic>
        <p:nvPicPr>
          <p:cNvPr id="6" name="Image 0" descr="Phone view of Stage 1: Bill on the forest road, with left and right arrow markers in the bottom corners">    </p:cNvPr>
          <p:cNvPicPr>
            <a:picLocks noChangeAspect="1"/>
          </p:cNvPicPr>
          <p:nvPr/>
        </p:nvPicPr>
        <p:blipFill>
          <a:blip r:embed="rId1"/>
          <a:srcRect l="0" r="0" t="13" b="13"/>
          <a:stretch/>
        </p:blipFill>
        <p:spPr>
          <a:xfrm>
            <a:off x="6756400" y="1009650"/>
            <a:ext cx="2235200" cy="4838700"/>
          </a:xfrm>
          <a:prstGeom prst="roundRect">
            <a:avLst>
              <a:gd name="adj" fmla="val 9091"/>
            </a:avLst>
          </a:prstGeom>
          <a:effectLst>
            <a:outerShdw sx="100000" sy="100000" kx="0" ky="0" algn="bl" rotWithShape="0" blurRad="254000" dist="101600" dir="5400000">
              <a:srgbClr val="1D2433">
                <a:alpha val="25000"/>
              </a:srgbClr>
            </a:outerShdw>
          </a:effectLst>
        </p:spPr>
      </p:pic>
      <p:pic>
        <p:nvPicPr>
          <p:cNvPr id="7" name="Image 1" descr="Phone view of the boss fight: a green FIRE! prompt, with both bottom corners showing red target markers">    </p:cNvPr>
          <p:cNvPicPr>
            <a:picLocks noChangeAspect="1"/>
          </p:cNvPicPr>
          <p:nvPr/>
        </p:nvPicPr>
        <p:blipFill>
          <a:blip r:embed="rId2"/>
          <a:srcRect l="0" r="0" t="13" b="13"/>
          <a:stretch/>
        </p:blipFill>
        <p:spPr>
          <a:xfrm>
            <a:off x="9144000" y="1009650"/>
            <a:ext cx="2235200" cy="4838700"/>
          </a:xfrm>
          <a:prstGeom prst="roundRect">
            <a:avLst>
              <a:gd name="adj" fmla="val 9091"/>
            </a:avLst>
          </a:prstGeom>
          <a:effectLst>
            <a:outerShdw sx="100000" sy="100000" kx="0" ky="0" algn="bl" rotWithShape="0" blurRad="254000" dist="101600" dir="5400000">
              <a:srgbClr val="1D2433">
                <a:alpha val="25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The design, in four ideas</a:t>
            </a:r>
            <a:endParaRPr lang="en-US" sz="3600" dirty="0"/>
          </a:p>
        </p:txBody>
      </p:sp>
      <p:sp>
        <p:nvSpPr>
          <p:cNvPr id="3" name="Shape 1"/>
          <p:cNvSpPr/>
          <p:nvPr/>
        </p:nvSpPr>
        <p:spPr>
          <a:xfrm>
            <a:off x="819150" y="1626871"/>
            <a:ext cx="5181600" cy="1579880"/>
          </a:xfrm>
          <a:prstGeom prst="roundRect">
            <a:avLst>
              <a:gd name="adj" fmla="val 9244"/>
            </a:avLst>
          </a:prstGeom>
          <a:solidFill>
            <a:srgbClr val="FFFFFF"/>
          </a:solidFill>
          <a:ln w="12700">
            <a:solidFill>
              <a:srgbClr val="EFE4CC"/>
            </a:solidFill>
            <a:prstDash val="solid"/>
          </a:ln>
        </p:spPr>
      </p:sp>
      <p:pic>
        <p:nvPicPr>
          <p:cNvPr id="4" name="Image 0" descr="Lightning">    </p:cNvPr>
          <p:cNvPicPr>
            <a:picLocks noChangeAspect="1"/>
          </p:cNvPicPr>
          <p:nvPr/>
        </p:nvPicPr>
        <p:blipFill>
          <a:blip r:embed="rId1"/>
          <a:srcRect l="0" r="0" t="0" b="0"/>
          <a:stretch/>
        </p:blipFill>
        <p:spPr>
          <a:xfrm>
            <a:off x="1051560" y="1859282"/>
            <a:ext cx="406400" cy="406400"/>
          </a:xfrm>
          <a:prstGeom prst="rect">
            <a:avLst/>
          </a:prstGeom>
        </p:spPr>
      </p:pic>
      <p:sp>
        <p:nvSpPr>
          <p:cNvPr id="5" name="Text 2"/>
          <p:cNvSpPr/>
          <p:nvPr/>
        </p:nvSpPr>
        <p:spPr>
          <a:xfrm>
            <a:off x="1635760" y="1859282"/>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Easy to learn, hard to master</a:t>
            </a:r>
            <a:endParaRPr lang="en-US" sz="2000" dirty="0"/>
          </a:p>
        </p:txBody>
      </p:sp>
      <p:sp>
        <p:nvSpPr>
          <p:cNvPr id="6" name="Text 3"/>
          <p:cNvSpPr/>
          <p:nvPr/>
        </p:nvSpPr>
        <p:spPr>
          <a:xfrm>
            <a:off x="1635760" y="2227582"/>
            <a:ext cx="425655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One rule: left or right. Then Stage 2 speeds up, and FIRE comes at a random moment: react faster, hit harder.</a:t>
            </a:r>
            <a:endParaRPr lang="en-US" sz="1400" dirty="0"/>
          </a:p>
        </p:txBody>
      </p:sp>
      <p:sp>
        <p:nvSpPr>
          <p:cNvPr id="7" name="Shape 4"/>
          <p:cNvSpPr/>
          <p:nvPr/>
        </p:nvSpPr>
        <p:spPr>
          <a:xfrm>
            <a:off x="6191250" y="1626871"/>
            <a:ext cx="5181600" cy="1579880"/>
          </a:xfrm>
          <a:prstGeom prst="roundRect">
            <a:avLst>
              <a:gd name="adj" fmla="val 9244"/>
            </a:avLst>
          </a:prstGeom>
          <a:solidFill>
            <a:srgbClr val="FFFFFF"/>
          </a:solidFill>
          <a:ln w="12700">
            <a:solidFill>
              <a:srgbClr val="EFE4CC"/>
            </a:solidFill>
            <a:prstDash val="solid"/>
          </a:ln>
        </p:spPr>
      </p:sp>
      <p:pic>
        <p:nvPicPr>
          <p:cNvPr id="8" name="Image 1" descr="Star">    </p:cNvPr>
          <p:cNvPicPr>
            <a:picLocks noChangeAspect="1"/>
          </p:cNvPicPr>
          <p:nvPr/>
        </p:nvPicPr>
        <p:blipFill>
          <a:blip r:embed="rId2"/>
          <a:srcRect l="0" r="0" t="0" b="0"/>
          <a:stretch/>
        </p:blipFill>
        <p:spPr>
          <a:xfrm>
            <a:off x="6423660" y="1859282"/>
            <a:ext cx="406400" cy="406400"/>
          </a:xfrm>
          <a:prstGeom prst="rect">
            <a:avLst/>
          </a:prstGeom>
        </p:spPr>
      </p:pic>
      <p:sp>
        <p:nvSpPr>
          <p:cNvPr id="9" name="Text 5"/>
          <p:cNvSpPr/>
          <p:nvPr/>
        </p:nvSpPr>
        <p:spPr>
          <a:xfrm>
            <a:off x="7007860" y="1859282"/>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Greed pays</a:t>
            </a:r>
            <a:endParaRPr lang="en-US" sz="2000" dirty="0"/>
          </a:p>
        </p:txBody>
      </p:sp>
      <p:sp>
        <p:nvSpPr>
          <p:cNvPr id="10" name="Text 6"/>
          <p:cNvSpPr/>
          <p:nvPr/>
        </p:nvSpPr>
        <p:spPr>
          <a:xfrm>
            <a:off x="7007860" y="2227582"/>
            <a:ext cx="425655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Coins buy the best power-up you can afford, no menu needed: a shield at 20, a boost at 50, a laser at 100.</a:t>
            </a:r>
            <a:endParaRPr lang="en-US" sz="1400" dirty="0"/>
          </a:p>
        </p:txBody>
      </p:sp>
      <p:sp>
        <p:nvSpPr>
          <p:cNvPr id="11" name="Shape 7"/>
          <p:cNvSpPr/>
          <p:nvPr/>
        </p:nvSpPr>
        <p:spPr>
          <a:xfrm>
            <a:off x="819150" y="3397250"/>
            <a:ext cx="5181600" cy="1579880"/>
          </a:xfrm>
          <a:prstGeom prst="roundRect">
            <a:avLst>
              <a:gd name="adj" fmla="val 9244"/>
            </a:avLst>
          </a:prstGeom>
          <a:solidFill>
            <a:srgbClr val="FFFFFF"/>
          </a:solidFill>
          <a:ln w="12700">
            <a:solidFill>
              <a:srgbClr val="EFE4CC"/>
            </a:solidFill>
            <a:prstDash val="solid"/>
          </a:ln>
        </p:spPr>
      </p:sp>
      <p:pic>
        <p:nvPicPr>
          <p:cNvPr id="12" name="Image 2" descr="Verified">    </p:cNvPr>
          <p:cNvPicPr>
            <a:picLocks noChangeAspect="1"/>
          </p:cNvPicPr>
          <p:nvPr/>
        </p:nvPicPr>
        <p:blipFill>
          <a:blip r:embed="rId3"/>
          <a:srcRect l="0" r="0" t="0" b="0"/>
          <a:stretch/>
        </p:blipFill>
        <p:spPr>
          <a:xfrm>
            <a:off x="1051560" y="3629661"/>
            <a:ext cx="406400" cy="406400"/>
          </a:xfrm>
          <a:prstGeom prst="rect">
            <a:avLst/>
          </a:prstGeom>
        </p:spPr>
      </p:pic>
      <p:sp>
        <p:nvSpPr>
          <p:cNvPr id="13" name="Text 8"/>
          <p:cNvSpPr/>
          <p:nvPr/>
        </p:nvSpPr>
        <p:spPr>
          <a:xfrm>
            <a:off x="1635760" y="3629661"/>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Fair for everyone</a:t>
            </a:r>
            <a:endParaRPr lang="en-US" sz="2000" dirty="0"/>
          </a:p>
        </p:txBody>
      </p:sp>
      <p:sp>
        <p:nvSpPr>
          <p:cNvPr id="14" name="Text 9"/>
          <p:cNvSpPr/>
          <p:nvPr/>
        </p:nvSpPr>
        <p:spPr>
          <a:xfrm>
            <a:off x="1635760" y="3997961"/>
            <a:ext cx="425655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The whole room races the identical course, and every course always has a way through.</a:t>
            </a:r>
            <a:endParaRPr lang="en-US" sz="1400" dirty="0"/>
          </a:p>
        </p:txBody>
      </p:sp>
      <p:sp>
        <p:nvSpPr>
          <p:cNvPr id="15" name="Shape 10"/>
          <p:cNvSpPr/>
          <p:nvPr/>
        </p:nvSpPr>
        <p:spPr>
          <a:xfrm>
            <a:off x="6191250" y="3397250"/>
            <a:ext cx="5181600" cy="1579880"/>
          </a:xfrm>
          <a:prstGeom prst="roundRect">
            <a:avLst>
              <a:gd name="adj" fmla="val 9244"/>
            </a:avLst>
          </a:prstGeom>
          <a:solidFill>
            <a:srgbClr val="FFFFFF"/>
          </a:solidFill>
          <a:ln w="12700">
            <a:solidFill>
              <a:srgbClr val="EFE4CC"/>
            </a:solidFill>
            <a:prstDash val="solid"/>
          </a:ln>
        </p:spPr>
      </p:sp>
      <p:pic>
        <p:nvPicPr>
          <p:cNvPr id="16" name="Image 3" descr="Play">    </p:cNvPr>
          <p:cNvPicPr>
            <a:picLocks noChangeAspect="1"/>
          </p:cNvPicPr>
          <p:nvPr/>
        </p:nvPicPr>
        <p:blipFill>
          <a:blip r:embed="rId4"/>
          <a:srcRect l="0" r="0" t="0" b="0"/>
          <a:stretch/>
        </p:blipFill>
        <p:spPr>
          <a:xfrm>
            <a:off x="6423660" y="3629661"/>
            <a:ext cx="406400" cy="406400"/>
          </a:xfrm>
          <a:prstGeom prst="rect">
            <a:avLst/>
          </a:prstGeom>
        </p:spPr>
      </p:pic>
      <p:sp>
        <p:nvSpPr>
          <p:cNvPr id="17" name="Text 11"/>
          <p:cNvSpPr/>
          <p:nvPr/>
        </p:nvSpPr>
        <p:spPr>
          <a:xfrm>
            <a:off x="7007860" y="3629661"/>
            <a:ext cx="42565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Losing is funny too</a:t>
            </a:r>
            <a:endParaRPr lang="en-US" sz="2000" dirty="0"/>
          </a:p>
        </p:txBody>
      </p:sp>
      <p:sp>
        <p:nvSpPr>
          <p:cNvPr id="18" name="Text 12"/>
          <p:cNvSpPr/>
          <p:nvPr/>
        </p:nvSpPr>
        <p:spPr>
          <a:xfrm>
            <a:off x="7007860" y="3997961"/>
            <a:ext cx="425655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Every way Bill goes down gets its own short ending film, and the Don roasts whoever comes last.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6F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Everyone plays, on their own phone</a:t>
            </a:r>
            <a:endParaRPr lang="en-US" sz="3600" dirty="0"/>
          </a:p>
        </p:txBody>
      </p:sp>
      <p:sp>
        <p:nvSpPr>
          <p:cNvPr id="3" name="Text 1"/>
          <p:cNvSpPr/>
          <p:nvPr/>
        </p:nvSpPr>
        <p:spPr>
          <a:xfrm>
            <a:off x="812800" y="1972314"/>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1 · Scan the QR</a:t>
            </a:r>
            <a:endParaRPr lang="en-US" sz="2000" dirty="0"/>
          </a:p>
        </p:txBody>
      </p:sp>
      <p:sp>
        <p:nvSpPr>
          <p:cNvPr id="4" name="Text 2"/>
          <p:cNvSpPr/>
          <p:nvPr/>
        </p:nvSpPr>
        <p:spPr>
          <a:xfrm>
            <a:off x="812800" y="2315214"/>
            <a:ext cx="42164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No app, no account. Type a name and you’re in.</a:t>
            </a:r>
            <a:endParaRPr lang="en-US" sz="1400" dirty="0"/>
          </a:p>
        </p:txBody>
      </p:sp>
      <p:sp>
        <p:nvSpPr>
          <p:cNvPr id="5" name="Text 3"/>
          <p:cNvSpPr/>
          <p:nvPr/>
        </p:nvSpPr>
        <p:spPr>
          <a:xfrm>
            <a:off x="812800" y="2733042"/>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2 · Float in the pond</a:t>
            </a:r>
            <a:endParaRPr lang="en-US" sz="2000" dirty="0"/>
          </a:p>
        </p:txBody>
      </p:sp>
      <p:sp>
        <p:nvSpPr>
          <p:cNvPr id="6" name="Text 4"/>
          <p:cNvSpPr/>
          <p:nvPr/>
        </p:nvSpPr>
        <p:spPr>
          <a:xfrm>
            <a:off x="812800" y="3075942"/>
            <a:ext cx="39243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Every player is a Bill in their own suit.</a:t>
            </a:r>
            <a:endParaRPr lang="en-US" sz="1400" dirty="0"/>
          </a:p>
        </p:txBody>
      </p:sp>
      <p:sp>
        <p:nvSpPr>
          <p:cNvPr id="7" name="Text 5"/>
          <p:cNvSpPr/>
          <p:nvPr/>
        </p:nvSpPr>
        <p:spPr>
          <a:xfrm>
            <a:off x="812800" y="3493771"/>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3 · Race</a:t>
            </a:r>
            <a:endParaRPr lang="en-US" sz="2000" dirty="0"/>
          </a:p>
        </p:txBody>
      </p:sp>
      <p:sp>
        <p:nvSpPr>
          <p:cNvPr id="8" name="Text 6"/>
          <p:cNvSpPr/>
          <p:nvPr/>
        </p:nvSpPr>
        <p:spPr>
          <a:xfrm>
            <a:off x="812800" y="3836671"/>
            <a:ext cx="39243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One 3-2-1, the same course for everyone.</a:t>
            </a:r>
            <a:endParaRPr lang="en-US" sz="1400" dirty="0"/>
          </a:p>
        </p:txBody>
      </p:sp>
      <p:sp>
        <p:nvSpPr>
          <p:cNvPr id="9" name="Text 7"/>
          <p:cNvSpPr/>
          <p:nvPr/>
        </p:nvSpPr>
        <p:spPr>
          <a:xfrm>
            <a:off x="812800" y="4254500"/>
            <a:ext cx="39243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6F99"/>
                </a:solidFill>
                <a:latin typeface="Fredoka" pitchFamily="34" charset="0"/>
                <a:ea typeface="Fredoka" pitchFamily="34" charset="-122"/>
                <a:cs typeface="Fredoka" pitchFamily="34" charset="-120"/>
              </a:rPr>
              <a:t>4 · Podium, then again</a:t>
            </a:r>
            <a:endParaRPr lang="en-US" sz="2000" dirty="0"/>
          </a:p>
        </p:txBody>
      </p:sp>
      <p:sp>
        <p:nvSpPr>
          <p:cNvPr id="10" name="Text 8"/>
          <p:cNvSpPr/>
          <p:nvPr/>
        </p:nvSpPr>
        <p:spPr>
          <a:xfrm>
            <a:off x="812800" y="4597400"/>
            <a:ext cx="39243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C"/>
                </a:solidFill>
                <a:latin typeface="Nunito Sans" pitchFamily="34" charset="0"/>
                <a:ea typeface="Nunito Sans" pitchFamily="34" charset="-122"/>
                <a:cs typeface="Nunito Sans" pitchFamily="34" charset="-120"/>
              </a:rPr>
              <a:t>Back to the pond for the next race.</a:t>
            </a:r>
            <a:endParaRPr lang="en-US" sz="1400" dirty="0"/>
          </a:p>
        </p:txBody>
      </p:sp>
      <p:pic>
        <p:nvPicPr>
          <p:cNvPr id="11" name="Image 0" descr="The pond lobby: five ducks in suits floating on a pond, a leaderboard on zero, a QR code to join and a Start race button">    </p:cNvPr>
          <p:cNvPicPr>
            <a:picLocks noChangeAspect="1"/>
          </p:cNvPicPr>
          <p:nvPr/>
        </p:nvPicPr>
        <p:blipFill>
          <a:blip r:embed="rId1"/>
          <a:srcRect l="0" r="0" t="44" b="44"/>
          <a:stretch/>
        </p:blipFill>
        <p:spPr>
          <a:xfrm>
            <a:off x="5029200" y="1620521"/>
            <a:ext cx="6350000" cy="3568700"/>
          </a:xfrm>
          <a:prstGeom prst="roundRect">
            <a:avLst>
              <a:gd name="adj" fmla="val 4270"/>
            </a:avLst>
          </a:prstGeom>
          <a:effectLst>
            <a:outerShdw sx="100000" sy="100000" kx="0" ky="0" algn="bl" rotWithShape="0" blurRad="254000" dist="101600" dir="5400000">
              <a:srgbClr val="1D2433">
                <a:alpha val="2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84573" y="2080264"/>
            <a:ext cx="1622774" cy="309880"/>
          </a:xfrm>
          <a:prstGeom prst="rect">
            <a:avLst/>
          </a:prstGeom>
          <a:noFill/>
          <a:ln/>
        </p:spPr>
        <p:txBody>
          <a:bodyPr wrap="square" lIns="0" tIns="0" rIns="0" bIns="0" rtlCol="0" anchor="t">
            <a:normAutofit/>
          </a:bodyPr>
          <a:lstStyle/>
          <a:p>
            <a:pPr algn="ctr" indent="0" marL="0">
              <a:lnSpc>
                <a:spcPts val="2240"/>
              </a:lnSpc>
              <a:buNone/>
            </a:pPr>
            <a:r>
              <a:rPr lang="en-US" sz="1600" b="1" spc="200" kern="0" dirty="0">
                <a:solidFill>
                  <a:srgbClr val="FFD23F"/>
                </a:solidFill>
                <a:latin typeface="Nunito Sans" pitchFamily="34" charset="0"/>
                <a:ea typeface="Nunito Sans" pitchFamily="34" charset="-122"/>
                <a:cs typeface="Nunito Sans" pitchFamily="34" charset="-120"/>
              </a:rPr>
              <a:t>LIVE DEMO</a:t>
            </a:r>
            <a:endParaRPr lang="en-US" sz="1600" dirty="0"/>
          </a:p>
        </p:txBody>
      </p:sp>
      <p:sp>
        <p:nvSpPr>
          <p:cNvPr id="3" name="Text 1"/>
          <p:cNvSpPr/>
          <p:nvPr>
            <p:ph type="title"/>
          </p:nvPr>
        </p:nvSpPr>
        <p:spPr>
          <a:xfrm>
            <a:off x="2874836" y="2618742"/>
            <a:ext cx="6442329" cy="1041400"/>
          </a:xfrm>
          <a:prstGeom prst="rect">
            <a:avLst/>
          </a:prstGeom>
          <a:noFill/>
          <a:ln/>
        </p:spPr>
        <p:txBody>
          <a:bodyPr wrap="square" lIns="0" tIns="0" rIns="0" bIns="0" rtlCol="0" anchor="t">
            <a:normAutofit/>
          </a:bodyPr>
          <a:lstStyle/>
          <a:p>
            <a:pPr algn="ctr" indent="0" marL="0">
              <a:lnSpc>
                <a:spcPts val="8000"/>
              </a:lnSpc>
              <a:buNone/>
            </a:pPr>
            <a:r>
              <a:rPr lang="en-US" sz="8000" b="1" i="0" dirty="0">
                <a:solidFill>
                  <a:srgbClr val="FFD23F"/>
                </a:solidFill>
                <a:latin typeface="Fredoka" pitchFamily="34" charset="0"/>
                <a:ea typeface="Fredoka" pitchFamily="34" charset="-122"/>
                <a:cs typeface="Fredoka" pitchFamily="34" charset="-120"/>
              </a:rPr>
              <a:t>Phones out.</a:t>
            </a:r>
            <a:endParaRPr lang="en-US" sz="8000" dirty="0"/>
          </a:p>
        </p:txBody>
      </p:sp>
      <p:sp>
        <p:nvSpPr>
          <p:cNvPr id="4" name="Text 2"/>
          <p:cNvSpPr/>
          <p:nvPr/>
        </p:nvSpPr>
        <p:spPr>
          <a:xfrm>
            <a:off x="3545859" y="3888742"/>
            <a:ext cx="5100282" cy="914400"/>
          </a:xfrm>
          <a:prstGeom prst="rect">
            <a:avLst/>
          </a:prstGeom>
          <a:noFill/>
          <a:ln/>
        </p:spPr>
        <p:txBody>
          <a:bodyPr wrap="square" lIns="0" tIns="0" rIns="0" bIns="0" rtlCol="0" anchor="t">
            <a:normAutofit/>
          </a:bodyPr>
          <a:lstStyle/>
          <a:p>
            <a:pPr algn="ctr" indent="0" marL="0">
              <a:lnSpc>
                <a:spcPts val="3500"/>
              </a:lnSpc>
              <a:buNone/>
            </a:pPr>
            <a:r>
              <a:rPr lang="en-US" sz="2800" dirty="0">
                <a:solidFill>
                  <a:srgbClr val="FFFAF0"/>
                </a:solidFill>
                <a:latin typeface="Fredoka" pitchFamily="34" charset="0"/>
                <a:ea typeface="Fredoka" pitchFamily="34" charset="-122"/>
                <a:cs typeface="Fredoka" pitchFamily="34" charset="-120"/>
              </a:rPr>
              <a:t>Scan the QR on the big screen.</a:t>
            </a:r>
            <a:endParaRPr lang="en-US" sz="2800" dirty="0"/>
          </a:p>
          <a:p>
            <a:pPr algn="ctr" indent="0" marL="0">
              <a:lnSpc>
                <a:spcPts val="3500"/>
              </a:lnSpc>
              <a:buNone/>
            </a:pPr>
            <a:r>
              <a:rPr lang="en-US" sz="2800" dirty="0">
                <a:solidFill>
                  <a:srgbClr val="FFFAF0"/>
                </a:solidFill>
                <a:latin typeface="Fredoka" pitchFamily="34" charset="0"/>
                <a:ea typeface="Fredoka" pitchFamily="34" charset="-122"/>
                <a:cs typeface="Fredoka" pitchFamily="34" charset="-120"/>
              </a:rPr>
              <a:t>Beat the Don. Take the podium.</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A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D23F"/>
                </a:solidFill>
                <a:latin typeface="Fredoka" pitchFamily="34" charset="0"/>
                <a:ea typeface="Fredoka" pitchFamily="34" charset="-122"/>
                <a:cs typeface="Fredoka" pitchFamily="34" charset="-120"/>
              </a:rPr>
              <a:t>Meanwhile, on the big screen</a:t>
            </a:r>
            <a:endParaRPr lang="en-US" sz="3600" dirty="0"/>
          </a:p>
        </p:txBody>
      </p:sp>
      <p:pic>
        <p:nvPicPr>
          <p:cNvPr id="3" name="Image 0" descr="The big screen mid-race: four ducks on lanes across Stage 1, Underwater, Stage 2 and the Boss, with scores, a live clock and commentary">    </p:cNvPr>
          <p:cNvPicPr>
            <a:picLocks noChangeAspect="1"/>
          </p:cNvPicPr>
          <p:nvPr/>
        </p:nvPicPr>
        <p:blipFill>
          <a:blip r:embed="rId1"/>
          <a:srcRect l="0" r="0" t="346" b="346"/>
          <a:stretch/>
        </p:blipFill>
        <p:spPr>
          <a:xfrm>
            <a:off x="831850" y="1639571"/>
            <a:ext cx="5092700" cy="2844800"/>
          </a:xfrm>
          <a:prstGeom prst="roundRect">
            <a:avLst>
              <a:gd name="adj" fmla="val 3795"/>
            </a:avLst>
          </a:prstGeom>
        </p:spPr>
      </p:pic>
      <p:sp>
        <p:nvSpPr>
          <p:cNvPr id="4" name="Shape 1"/>
          <p:cNvSpPr/>
          <p:nvPr/>
        </p:nvSpPr>
        <p:spPr>
          <a:xfrm>
            <a:off x="822325" y="1630046"/>
            <a:ext cx="5111750" cy="2863850"/>
          </a:xfrm>
          <a:prstGeom prst="roundRect">
            <a:avLst>
              <a:gd name="adj" fmla="val 4102"/>
            </a:avLst>
          </a:prstGeom>
          <a:noFill/>
          <a:ln w="19050">
            <a:solidFill>
              <a:srgbClr val="2F6A3A"/>
            </a:solidFill>
            <a:prstDash val="solid"/>
          </a:ln>
        </p:spPr>
      </p:sp>
      <p:sp>
        <p:nvSpPr>
          <p:cNvPr id="5" name="Text 2"/>
          <p:cNvSpPr/>
          <p:nvPr/>
        </p:nvSpPr>
        <p:spPr>
          <a:xfrm>
            <a:off x="812800" y="4630421"/>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AF0"/>
                </a:solidFill>
                <a:latin typeface="Fredoka" pitchFamily="34" charset="0"/>
                <a:ea typeface="Fredoka" pitchFamily="34" charset="-122"/>
                <a:cs typeface="Fredoka" pitchFamily="34" charset="-120"/>
              </a:rPr>
              <a:t>A live track and commentary</a:t>
            </a:r>
            <a:endParaRPr lang="en-US" sz="2000" dirty="0"/>
          </a:p>
        </p:txBody>
      </p:sp>
      <p:sp>
        <p:nvSpPr>
          <p:cNvPr id="6" name="Text 3"/>
          <p:cNvSpPr/>
          <p:nvPr/>
        </p:nvSpPr>
        <p:spPr>
          <a:xfrm>
            <a:off x="812800" y="5062221"/>
            <a:ext cx="528472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D4"/>
                </a:solidFill>
                <a:latin typeface="Nunito Sans" pitchFamily="34" charset="0"/>
                <a:ea typeface="Nunito Sans" pitchFamily="34" charset="-122"/>
                <a:cs typeface="Nunito Sans" pitchFamily="34" charset="-120"/>
              </a:rPr>
              <a:t>Every duck on one track, a live clock, and calls like “Mayank grabbed the dollar and is into Stage 2!”</a:t>
            </a:r>
            <a:endParaRPr lang="en-US" sz="1400" dirty="0"/>
          </a:p>
        </p:txBody>
      </p:sp>
      <p:pic>
        <p:nvPicPr>
          <p:cNvPr id="7" name="Image 1" descr="The podium: Vansh wins in first place, Rayyan second, Mayank third, with confetti, and the Don telling Zubair he still owes him breadcrumbs">    </p:cNvPr>
          <p:cNvPicPr>
            <a:picLocks noChangeAspect="1"/>
          </p:cNvPicPr>
          <p:nvPr/>
        </p:nvPicPr>
        <p:blipFill>
          <a:blip r:embed="rId2"/>
          <a:srcRect l="0" r="0" t="346" b="346"/>
          <a:stretch/>
        </p:blipFill>
        <p:spPr>
          <a:xfrm>
            <a:off x="6267450" y="1639571"/>
            <a:ext cx="5092700" cy="2844800"/>
          </a:xfrm>
          <a:prstGeom prst="roundRect">
            <a:avLst>
              <a:gd name="adj" fmla="val 3795"/>
            </a:avLst>
          </a:prstGeom>
        </p:spPr>
      </p:pic>
      <p:sp>
        <p:nvSpPr>
          <p:cNvPr id="8" name="Shape 4"/>
          <p:cNvSpPr/>
          <p:nvPr/>
        </p:nvSpPr>
        <p:spPr>
          <a:xfrm>
            <a:off x="6257925" y="1630046"/>
            <a:ext cx="5111750" cy="2863850"/>
          </a:xfrm>
          <a:prstGeom prst="roundRect">
            <a:avLst>
              <a:gd name="adj" fmla="val 4102"/>
            </a:avLst>
          </a:prstGeom>
          <a:noFill/>
          <a:ln w="19050">
            <a:solidFill>
              <a:srgbClr val="2F6A3A"/>
            </a:solidFill>
            <a:prstDash val="solid"/>
          </a:ln>
        </p:spPr>
      </p:sp>
      <p:sp>
        <p:nvSpPr>
          <p:cNvPr id="9" name="Text 5"/>
          <p:cNvSpPr/>
          <p:nvPr/>
        </p:nvSpPr>
        <p:spPr>
          <a:xfrm>
            <a:off x="6248400" y="4630421"/>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AF0"/>
                </a:solidFill>
                <a:latin typeface="Fredoka" pitchFamily="34" charset="0"/>
                <a:ea typeface="Fredoka" pitchFamily="34" charset="-122"/>
                <a:cs typeface="Fredoka" pitchFamily="34" charset="-120"/>
              </a:rPr>
              <a:t>A podium, and a roast</a:t>
            </a:r>
            <a:endParaRPr lang="en-US" sz="2000" dirty="0"/>
          </a:p>
        </p:txBody>
      </p:sp>
      <p:sp>
        <p:nvSpPr>
          <p:cNvPr id="10" name="Text 6"/>
          <p:cNvSpPr/>
          <p:nvPr/>
        </p:nvSpPr>
        <p:spPr>
          <a:xfrm>
            <a:off x="6248400" y="5062221"/>
            <a:ext cx="528472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E3D4"/>
                </a:solidFill>
                <a:latin typeface="Nunito Sans" pitchFamily="34" charset="0"/>
                <a:ea typeface="Nunito Sans" pitchFamily="34" charset="-122"/>
                <a:cs typeface="Nunito Sans" pitchFamily="34" charset="-120"/>
              </a:rPr>
              <a:t>Confetti for the top three. The Don reminds whoever came last that they still owe him.</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A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How it’s built</a:t>
            </a:r>
            <a:endParaRPr lang="en-US" sz="3600" dirty="0"/>
          </a:p>
        </p:txBody>
      </p:sp>
      <p:sp>
        <p:nvSpPr>
          <p:cNvPr id="3" name="Shape 1"/>
          <p:cNvSpPr/>
          <p:nvPr/>
        </p:nvSpPr>
        <p:spPr>
          <a:xfrm>
            <a:off x="819150" y="1626871"/>
            <a:ext cx="5168900" cy="1643380"/>
          </a:xfrm>
          <a:prstGeom prst="roundRect">
            <a:avLst>
              <a:gd name="adj" fmla="val 8887"/>
            </a:avLst>
          </a:prstGeom>
          <a:solidFill>
            <a:srgbClr val="FFFFFF"/>
          </a:solidFill>
          <a:ln w="12700">
            <a:solidFill>
              <a:srgbClr val="EFE4CC"/>
            </a:solidFill>
            <a:prstDash val="solid"/>
          </a:ln>
        </p:spPr>
      </p:sp>
      <p:pic>
        <p:nvPicPr>
          <p:cNvPr id="4" name="Image 0" descr="Code">    </p:cNvPr>
          <p:cNvPicPr>
            <a:picLocks noChangeAspect="1"/>
          </p:cNvPicPr>
          <p:nvPr/>
        </p:nvPicPr>
        <p:blipFill>
          <a:blip r:embed="rId1"/>
          <a:srcRect l="0" r="0" t="0" b="0"/>
          <a:stretch/>
        </p:blipFill>
        <p:spPr>
          <a:xfrm>
            <a:off x="1076960" y="1884679"/>
            <a:ext cx="406400" cy="406400"/>
          </a:xfrm>
          <a:prstGeom prst="rect">
            <a:avLst/>
          </a:prstGeom>
        </p:spPr>
      </p:pic>
      <p:sp>
        <p:nvSpPr>
          <p:cNvPr id="5" name="Text 2"/>
          <p:cNvSpPr/>
          <p:nvPr/>
        </p:nvSpPr>
        <p:spPr>
          <a:xfrm>
            <a:off x="1661160" y="1884679"/>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Made in code</a:t>
            </a:r>
            <a:endParaRPr lang="en-US" sz="2000" dirty="0"/>
          </a:p>
        </p:txBody>
      </p:sp>
      <p:sp>
        <p:nvSpPr>
          <p:cNvPr id="6" name="Text 3"/>
          <p:cNvSpPr/>
          <p:nvPr/>
        </p:nvSpPr>
        <p:spPr>
          <a:xfrm>
            <a:off x="1661160" y="2265679"/>
            <a:ext cx="419115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TypeScript and Three.js. Every character, texture and sound is made in code: no downloaded assets.</a:t>
            </a:r>
            <a:endParaRPr lang="en-US" sz="1400" dirty="0"/>
          </a:p>
        </p:txBody>
      </p:sp>
      <p:sp>
        <p:nvSpPr>
          <p:cNvPr id="7" name="Shape 4"/>
          <p:cNvSpPr/>
          <p:nvPr/>
        </p:nvSpPr>
        <p:spPr>
          <a:xfrm>
            <a:off x="6203950" y="1626871"/>
            <a:ext cx="5168900" cy="1643380"/>
          </a:xfrm>
          <a:prstGeom prst="roundRect">
            <a:avLst>
              <a:gd name="adj" fmla="val 8887"/>
            </a:avLst>
          </a:prstGeom>
          <a:solidFill>
            <a:srgbClr val="FFFFFF"/>
          </a:solidFill>
          <a:ln w="12700">
            <a:solidFill>
              <a:srgbClr val="EFE4CC"/>
            </a:solidFill>
            <a:prstDash val="solid"/>
          </a:ln>
        </p:spPr>
      </p:sp>
      <p:pic>
        <p:nvPicPr>
          <p:cNvPr id="8" name="Image 1" descr="Verified">    </p:cNvPr>
          <p:cNvPicPr>
            <a:picLocks noChangeAspect="1"/>
          </p:cNvPicPr>
          <p:nvPr/>
        </p:nvPicPr>
        <p:blipFill>
          <a:blip r:embed="rId2"/>
          <a:srcRect l="0" r="0" t="0" b="0"/>
          <a:stretch/>
        </p:blipFill>
        <p:spPr>
          <a:xfrm>
            <a:off x="6461760" y="1884679"/>
            <a:ext cx="406400" cy="406400"/>
          </a:xfrm>
          <a:prstGeom prst="rect">
            <a:avLst/>
          </a:prstGeom>
        </p:spPr>
      </p:pic>
      <p:sp>
        <p:nvSpPr>
          <p:cNvPr id="9" name="Text 5"/>
          <p:cNvSpPr/>
          <p:nvPr/>
        </p:nvSpPr>
        <p:spPr>
          <a:xfrm>
            <a:off x="7045960" y="1884679"/>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Fair courses</a:t>
            </a:r>
            <a:endParaRPr lang="en-US" sz="2000" dirty="0"/>
          </a:p>
        </p:txBody>
      </p:sp>
      <p:sp>
        <p:nvSpPr>
          <p:cNvPr id="10" name="Text 6"/>
          <p:cNvSpPr/>
          <p:nvPr/>
        </p:nvSpPr>
        <p:spPr>
          <a:xfrm>
            <a:off x="7045960" y="2265679"/>
            <a:ext cx="419115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A room’s seed builds the same course for everyone, and every course always has a way through. Tested on 1,000 seeds.</a:t>
            </a:r>
            <a:endParaRPr lang="en-US" sz="1400" dirty="0"/>
          </a:p>
        </p:txBody>
      </p:sp>
      <p:sp>
        <p:nvSpPr>
          <p:cNvPr id="11" name="Shape 7"/>
          <p:cNvSpPr/>
          <p:nvPr/>
        </p:nvSpPr>
        <p:spPr>
          <a:xfrm>
            <a:off x="819150" y="3486150"/>
            <a:ext cx="5168900" cy="1643380"/>
          </a:xfrm>
          <a:prstGeom prst="roundRect">
            <a:avLst>
              <a:gd name="adj" fmla="val 8887"/>
            </a:avLst>
          </a:prstGeom>
          <a:solidFill>
            <a:srgbClr val="FFFFFF"/>
          </a:solidFill>
          <a:ln w="12700">
            <a:solidFill>
              <a:srgbClr val="EFE4CC"/>
            </a:solidFill>
            <a:prstDash val="solid"/>
          </a:ln>
        </p:spPr>
      </p:sp>
      <p:pic>
        <p:nvPicPr>
          <p:cNvPr id="12" name="Image 2" descr="Users">    </p:cNvPr>
          <p:cNvPicPr>
            <a:picLocks noChangeAspect="1"/>
          </p:cNvPicPr>
          <p:nvPr/>
        </p:nvPicPr>
        <p:blipFill>
          <a:blip r:embed="rId3"/>
          <a:srcRect l="0" r="0" t="0" b="0"/>
          <a:stretch/>
        </p:blipFill>
        <p:spPr>
          <a:xfrm>
            <a:off x="1076960" y="3743964"/>
            <a:ext cx="406400" cy="406400"/>
          </a:xfrm>
          <a:prstGeom prst="rect">
            <a:avLst/>
          </a:prstGeom>
        </p:spPr>
      </p:pic>
      <p:sp>
        <p:nvSpPr>
          <p:cNvPr id="13" name="Text 8"/>
          <p:cNvSpPr/>
          <p:nvPr/>
        </p:nvSpPr>
        <p:spPr>
          <a:xfrm>
            <a:off x="1661160" y="3743964"/>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Real multiplayer</a:t>
            </a:r>
            <a:endParaRPr lang="en-US" sz="2000" dirty="0"/>
          </a:p>
        </p:txBody>
      </p:sp>
      <p:sp>
        <p:nvSpPr>
          <p:cNvPr id="14" name="Text 9"/>
          <p:cNvSpPr/>
          <p:nvPr/>
        </p:nvSpPr>
        <p:spPr>
          <a:xfrm>
            <a:off x="1661160" y="4124964"/>
            <a:ext cx="419115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Supabase: anonymous sign-in, row-level security, live updates, and a server clock so everyone starts together.</a:t>
            </a:r>
            <a:endParaRPr lang="en-US" sz="1400" dirty="0"/>
          </a:p>
        </p:txBody>
      </p:sp>
      <p:sp>
        <p:nvSpPr>
          <p:cNvPr id="15" name="Shape 10"/>
          <p:cNvSpPr/>
          <p:nvPr/>
        </p:nvSpPr>
        <p:spPr>
          <a:xfrm>
            <a:off x="6203950" y="3486150"/>
            <a:ext cx="5168900" cy="1643380"/>
          </a:xfrm>
          <a:prstGeom prst="roundRect">
            <a:avLst>
              <a:gd name="adj" fmla="val 8887"/>
            </a:avLst>
          </a:prstGeom>
          <a:solidFill>
            <a:srgbClr val="FFFFFF"/>
          </a:solidFill>
          <a:ln w="12700">
            <a:solidFill>
              <a:srgbClr val="EFE4CC"/>
            </a:solidFill>
            <a:prstDash val="solid"/>
          </a:ln>
        </p:spPr>
      </p:sp>
      <p:pic>
        <p:nvPicPr>
          <p:cNvPr id="16" name="Image 3" descr="CheckCircle">    </p:cNvPr>
          <p:cNvPicPr>
            <a:picLocks noChangeAspect="1"/>
          </p:cNvPicPr>
          <p:nvPr/>
        </p:nvPicPr>
        <p:blipFill>
          <a:blip r:embed="rId4"/>
          <a:srcRect l="0" r="0" t="0" b="0"/>
          <a:stretch/>
        </p:blipFill>
        <p:spPr>
          <a:xfrm>
            <a:off x="6461760" y="3743964"/>
            <a:ext cx="406400" cy="406400"/>
          </a:xfrm>
          <a:prstGeom prst="rect">
            <a:avLst/>
          </a:prstGeom>
        </p:spPr>
      </p:pic>
      <p:sp>
        <p:nvSpPr>
          <p:cNvPr id="17" name="Text 11"/>
          <p:cNvSpPr/>
          <p:nvPr/>
        </p:nvSpPr>
        <p:spPr>
          <a:xfrm>
            <a:off x="7045960" y="3743964"/>
            <a:ext cx="419115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433"/>
                </a:solidFill>
                <a:latin typeface="Fredoka" pitchFamily="34" charset="0"/>
                <a:ea typeface="Fredoka" pitchFamily="34" charset="-122"/>
                <a:cs typeface="Fredoka" pitchFamily="34" charset="-120"/>
              </a:rPr>
              <a:t>Tested</a:t>
            </a:r>
            <a:endParaRPr lang="en-US" sz="2000" dirty="0"/>
          </a:p>
        </p:txBody>
      </p:sp>
      <p:sp>
        <p:nvSpPr>
          <p:cNvPr id="18" name="Text 12"/>
          <p:cNvSpPr/>
          <p:nvPr/>
        </p:nvSpPr>
        <p:spPr>
          <a:xfrm>
            <a:off x="7045960" y="4124964"/>
            <a:ext cx="419115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C"/>
                </a:solidFill>
                <a:latin typeface="Nunito Sans" pitchFamily="34" charset="0"/>
                <a:ea typeface="Nunito Sans" pitchFamily="34" charset="-122"/>
                <a:cs typeface="Nunito Sans" pitchFamily="34" charset="-120"/>
              </a:rPr>
              <a:t>155 unit tests across rules, input, courses, rooms and the big screen, plus 60 database security checks.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6FD"/>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3"/>
                </a:solidFill>
                <a:latin typeface="Fredoka" pitchFamily="34" charset="0"/>
                <a:ea typeface="Fredoka" pitchFamily="34" charset="-122"/>
                <a:cs typeface="Fredoka" pitchFamily="34" charset="-120"/>
              </a:rPr>
              <a:t>Team 46, aka Team Monster</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0" cy="2727960"/>
        </p:xfrm>
        <a:graphic>
          <a:graphicData uri="http://schemas.openxmlformats.org/drawingml/2006/table">
            <a:tbl>
              <a:tblPr/>
              <a:tblGrid>
                <a:gridCol w="3589122"/>
                <a:gridCol w="6967118"/>
              </a:tblGrid>
              <a:tr h="410210">
                <a:tc>
                  <a:txBody>
                    <a:bodyPr/>
                    <a:lstStyle/>
                    <a:p>
                      <a:pPr indent="0" marL="0">
                        <a:lnSpc>
                          <a:spcPts val="2100"/>
                        </a:lnSpc>
                        <a:buNone/>
                      </a:pPr>
                      <a:r>
                        <a:rPr lang="en-US" sz="1500" b="1" dirty="0">
                          <a:solidFill>
                            <a:srgbClr val="1D2433"/>
                          </a:solidFill>
                          <a:latin typeface="Nunito Sans" pitchFamily="34" charset="0"/>
                          <a:ea typeface="Nunito Sans" pitchFamily="34" charset="-122"/>
                          <a:cs typeface="Nunito Sans" pitchFamily="34" charset="-120"/>
                        </a:rPr>
                        <a:t>Who</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AEB6BB"/>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EB6BB"/>
                      </a:solidFill>
                      <a:prstDash val="solid"/>
                      <a:round/>
                      <a:headEnd type="none" w="med" len="med"/>
                      <a:tailEnd type="none" w="med" len="med"/>
                    </a:lnB>
                    <a:solidFill>
                      <a:srgbClr val="D9E4EA"/>
                    </a:solidFill>
                  </a:tcPr>
                </a:tc>
                <a:tc>
                  <a:txBody>
                    <a:bodyPr/>
                    <a:lstStyle/>
                    <a:p>
                      <a:pPr indent="0" marL="0">
                        <a:lnSpc>
                          <a:spcPts val="2100"/>
                        </a:lnSpc>
                        <a:buNone/>
                      </a:pPr>
                      <a:r>
                        <a:rPr lang="en-US" sz="1500" b="1" dirty="0">
                          <a:solidFill>
                            <a:srgbClr val="1D2433"/>
                          </a:solidFill>
                          <a:latin typeface="Nunito Sans" pitchFamily="34" charset="0"/>
                          <a:ea typeface="Nunito Sans" pitchFamily="34" charset="-122"/>
                          <a:cs typeface="Nunito Sans" pitchFamily="34" charset="-120"/>
                        </a:rPr>
                        <a:t>Built</a:t>
                      </a:r>
                      <a:endParaRPr lang="en-US" sz="1500" dirty="0">
                        <a:latin typeface="Nunito Sans" charset="0"/>
                        <a:ea typeface="Nunito Sans" charset="0"/>
                        <a:cs typeface="Nunito Sans" charset="0"/>
                      </a:endParaRPr>
                    </a:p>
                  </a:txBody>
                  <a:tcPr marL="66675" marR="66675" marT="66675" marB="66675" anchor="t">
                    <a:lnL w="12700" cap="flat" cmpd="sng" algn="ctr">
                      <a:solidFill>
                        <a:srgbClr val="AEB6BB"/>
                      </a:solidFill>
                      <a:prstDash val="solid"/>
                      <a:round/>
                      <a:headEnd type="none" w="med" len="med"/>
                      <a:tailEnd type="none" w="med" len="med"/>
                    </a:lnL>
                    <a:lnR w="12700" cap="flat" cmpd="sng" algn="ctr">
                      <a:solidFill>
                        <a:srgbClr val="AEB6BB"/>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EB6BB"/>
                      </a:solidFill>
                      <a:prstDash val="solid"/>
                      <a:round/>
                      <a:headEnd type="none" w="med" len="med"/>
                      <a:tailEnd type="none" w="med" len="med"/>
                    </a:lnB>
                    <a:solidFill>
                      <a:srgbClr val="D9E4EA"/>
                    </a:solidFill>
                  </a:tcPr>
                </a:tc>
              </a:tr>
              <a:tr h="6769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Tejas Kaushik</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EB6BB"/>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Integration, 3D rendering, the lobby and multiplayer races, big-screen mode, phone controls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EB6BB"/>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Mayank Mishra</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Supabase backend: database, security rules, rooms, live scoreboard</a:t>
                      </a:r>
                      <a:endParaRPr lang="en-US" sz="1500" dirty="0">
                        <a:latin typeface="Nunito Sans" charset="0"/>
                        <a:ea typeface="Nunito Sans" charset="0"/>
                        <a:cs typeface="Nunito Sans" charset="0"/>
                      </a:endParaRPr>
                    </a:p>
                  </a:txBody>
                  <a:tcPr marL="66675" marR="66675" marT="66675" marB="66675" anchor="t">
                    <a:lnL w="12700" cap="flat" cmpd="sng" algn="ctr">
                      <a:solidFill>
                        <a:srgbClr val="ADBEC7"/>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Mohammad Rayyan Adhoni</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Seeded course generator and room integration</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Zubair Mohammed</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Boss rules and reaction timing, stage cards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ADBEC7"/>
                      </a:solidFill>
                      <a:prstDash val="solid"/>
                      <a:round/>
                      <a:headEnd type="none" w="med" len="med"/>
                      <a:tailEnd type="none" w="med" len="med"/>
                    </a:lnL>
                    <a:lnR w="12700" cap="flat" cmpd="sng" algn="ctr">
                      <a:solidFill>
                        <a:srgbClr val="ADBEC7"/>
                      </a:solidFill>
                      <a:prstDash val="solid"/>
                      <a:round/>
                      <a:headEnd type="none" w="med" len="med"/>
                      <a:tailEnd type="none" w="med" len="med"/>
                    </a:lnR>
                    <a:lnT w="12700" cap="flat" cmpd="sng" algn="ctr">
                      <a:solidFill>
                        <a:srgbClr val="BBC4CA"/>
                      </a:solidFill>
                      <a:prstDash val="solid"/>
                      <a:round/>
                      <a:headEnd type="none" w="med" len="med"/>
                      <a:tailEnd type="none" w="med" len="med"/>
                    </a:lnT>
                    <a:lnB w="12700" cap="flat" cmpd="sng" algn="ctr">
                      <a:solidFill>
                        <a:srgbClr val="ADBEC7"/>
                      </a:solidFill>
                      <a:prstDash val="solid"/>
                      <a:round/>
                      <a:headEnd type="none" w="med" len="med"/>
                      <a:tailEnd type="none" w="med" len="med"/>
                    </a:lnB>
                    <a:solidFill>
                      <a:srgbClr val="D8EEFA"/>
                    </a:solidFill>
                  </a:tcPr>
                </a:tc>
              </a:tr>
              <a:tr h="410210">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Vansh Ravibhai Thacker</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c>
                  <a:txBody>
                    <a:bodyPr/>
                    <a:lstStyle/>
                    <a:p>
                      <a:pPr indent="0" marL="0">
                        <a:lnSpc>
                          <a:spcPts val="2100"/>
                        </a:lnSpc>
                        <a:buNone/>
                      </a:pPr>
                      <a:r>
                        <a:rPr lang="en-US" sz="1500" dirty="0">
                          <a:solidFill>
                            <a:srgbClr val="1D2433"/>
                          </a:solidFill>
                          <a:latin typeface="Nunito Sans" pitchFamily="34" charset="0"/>
                          <a:ea typeface="Nunito Sans" pitchFamily="34" charset="-122"/>
                          <a:cs typeface="Nunito Sans" pitchFamily="34" charset="-120"/>
                        </a:rPr>
                        <a:t>Sound and music, the story and ending films, tests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BBC4CA"/>
                      </a:solidFill>
                      <a:prstDash val="solid"/>
                      <a:round/>
                      <a:headEnd type="none" w="med" len="med"/>
                      <a:tailEnd type="none" w="med" len="med"/>
                    </a:lnL>
                    <a:lnR w="12700" cap="flat" cmpd="sng" algn="ctr">
                      <a:solidFill>
                        <a:srgbClr val="BBC4CA"/>
                      </a:solidFill>
                      <a:prstDash val="solid"/>
                      <a:round/>
                      <a:headEnd type="none" w="med" len="med"/>
                      <a:tailEnd type="none" w="med" len="med"/>
                    </a:lnR>
                    <a:lnT w="12700" cap="flat" cmpd="sng" algn="ctr">
                      <a:solidFill>
                        <a:srgbClr val="ADBEC7"/>
                      </a:solidFill>
                      <a:prstDash val="solid"/>
                      <a:round/>
                      <a:headEnd type="none" w="med" len="med"/>
                      <a:tailEnd type="none" w="med" len="med"/>
                    </a:lnT>
                    <a:lnB w="12700" cap="flat" cmpd="sng" algn="ctr">
                      <a:solidFill>
                        <a:srgbClr val="BBC4CA"/>
                      </a:solidFill>
                      <a:prstDash val="solid"/>
                      <a:round/>
                      <a:headEnd type="none" w="med" len="med"/>
                      <a:tailEnd type="none" w="med" len="med"/>
                    </a:lnB>
                  </a:tcPr>
                </a:tc>
              </a:tr>
            </a:tbl>
          </a:graphicData>
        </a:graphic>
      </p:graphicFrame>
      <p:sp>
        <p:nvSpPr>
          <p:cNvPr id="4" name="Text 1"/>
          <p:cNvSpPr/>
          <p:nvPr/>
        </p:nvSpPr>
        <p:spPr>
          <a:xfrm>
            <a:off x="812800" y="46634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2433"/>
                </a:solidFill>
                <a:latin typeface="Nunito Sans" pitchFamily="34" charset="0"/>
                <a:ea typeface="Nunito Sans" pitchFamily="34" charset="-122"/>
                <a:cs typeface="Nunito Sans" pitchFamily="34" charset="-120"/>
              </a:rPr>
              <a:t>Play:</a:t>
            </a:r>
            <a:r>
              <a:rPr lang="en-US" sz="1500" dirty="0">
                <a:solidFill>
                  <a:srgbClr val="1D2433"/>
                </a:solidFill>
                <a:latin typeface="Nunito Sans" pitchFamily="34" charset="0"/>
                <a:ea typeface="Nunito Sans" pitchFamily="34" charset="-122"/>
                <a:cs typeface="Nunito Sans" pitchFamily="34" charset="-120"/>
              </a:rPr>
              <a:t> [live game link] · </a:t>
            </a:r>
            <a:r>
              <a:rPr lang="en-US" sz="1500" b="1" dirty="0">
                <a:solidFill>
                  <a:srgbClr val="1D2433"/>
                </a:solidFill>
                <a:latin typeface="Nunito Sans" pitchFamily="34" charset="0"/>
                <a:ea typeface="Nunito Sans" pitchFamily="34" charset="-122"/>
                <a:cs typeface="Nunito Sans" pitchFamily="34" charset="-120"/>
              </a:rPr>
              <a:t>Code:</a:t>
            </a:r>
            <a:r>
              <a:rPr lang="en-US" sz="1500" dirty="0">
                <a:solidFill>
                  <a:srgbClr val="1D2433"/>
                </a:solidFill>
                <a:latin typeface="Nunito Sans" pitchFamily="34" charset="0"/>
                <a:ea typeface="Nunito Sans" pitchFamily="34" charset="-122"/>
                <a:cs typeface="Nunito Sans" pitchFamily="34" charset="-120"/>
              </a:rPr>
              <a:t> github.com/zubmoh57/DYHTG-2026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D2433"/>
        </a:solidFill>
      </p:bgPr>
    </p:bg>
    <p:spTree>
      <p:nvGrpSpPr>
        <p:cNvPr id="1" name=""/>
        <p:cNvGrpSpPr/>
        <p:nvPr/>
      </p:nvGrpSpPr>
      <p:grpSpPr>
        <a:xfrm>
          <a:off x="0" y="0"/>
          <a:ext cx="0" cy="0"/>
          <a:chOff x="0" y="0"/>
          <a:chExt cx="0" cy="0"/>
        </a:xfrm>
      </p:grpSpPr>
      <p:sp>
        <p:nvSpPr>
          <p:cNvPr id="2" name="Text 0"/>
          <p:cNvSpPr/>
          <p:nvPr/>
        </p:nvSpPr>
        <p:spPr>
          <a:xfrm>
            <a:off x="4849566" y="605154"/>
            <a:ext cx="2492788" cy="256540"/>
          </a:xfrm>
          <a:prstGeom prst="rect">
            <a:avLst/>
          </a:prstGeom>
          <a:noFill/>
          <a:ln/>
        </p:spPr>
        <p:txBody>
          <a:bodyPr wrap="square" lIns="0" tIns="0" rIns="0" bIns="0" rtlCol="0" anchor="t">
            <a:normAutofit/>
          </a:bodyPr>
          <a:lstStyle/>
          <a:p>
            <a:pPr algn="ctr" indent="0" marL="0">
              <a:lnSpc>
                <a:spcPts val="1820"/>
              </a:lnSpc>
              <a:buNone/>
            </a:pPr>
            <a:r>
              <a:rPr lang="en-US" sz="1300" b="1" spc="150" kern="0" dirty="0">
                <a:solidFill>
                  <a:srgbClr val="BFD6C8"/>
                </a:solidFill>
                <a:latin typeface="Nunito Sans" pitchFamily="34" charset="0"/>
                <a:ea typeface="Nunito Sans" pitchFamily="34" charset="-122"/>
                <a:cs typeface="Nunito Sans" pitchFamily="34" charset="-120"/>
              </a:rPr>
              <a:t>DUCK RUN · TEAM 46</a:t>
            </a:r>
            <a:endParaRPr lang="en-US" sz="1300" dirty="0"/>
          </a:p>
        </p:txBody>
      </p:sp>
      <p:sp>
        <p:nvSpPr>
          <p:cNvPr id="3" name="Text 1"/>
          <p:cNvSpPr/>
          <p:nvPr>
            <p:ph type="title"/>
          </p:nvPr>
        </p:nvSpPr>
        <p:spPr>
          <a:xfrm>
            <a:off x="3564446" y="963296"/>
            <a:ext cx="5063109" cy="787400"/>
          </a:xfrm>
          <a:prstGeom prst="rect">
            <a:avLst/>
          </a:prstGeom>
          <a:noFill/>
          <a:ln/>
        </p:spPr>
        <p:txBody>
          <a:bodyPr wrap="square" lIns="0" tIns="0" rIns="0" bIns="0" rtlCol="0" anchor="t">
            <a:normAutofit/>
          </a:bodyPr>
          <a:lstStyle/>
          <a:p>
            <a:pPr algn="ctr" indent="0" marL="0">
              <a:lnSpc>
                <a:spcPts val="6000"/>
              </a:lnSpc>
              <a:buNone/>
            </a:pPr>
            <a:r>
              <a:rPr lang="en-US" sz="6000" b="1" i="0" dirty="0">
                <a:solidFill>
                  <a:srgbClr val="2EB872"/>
                </a:solidFill>
                <a:latin typeface="Fredoka" pitchFamily="34" charset="0"/>
                <a:ea typeface="Fredoka" pitchFamily="34" charset="-122"/>
                <a:cs typeface="Fredoka" pitchFamily="34" charset="-120"/>
              </a:rPr>
              <a:t>THANK YOU</a:t>
            </a:r>
            <a:endParaRPr lang="en-US" sz="6000" dirty="0"/>
          </a:p>
        </p:txBody>
      </p:sp>
      <p:pic>
        <p:nvPicPr>
          <p:cNvPr id="4" name="e18de20d0513f01c4e4415bb0c8fa23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1"/>
          <a:stretch>
            <a:fillRect/>
          </a:stretch>
        </p:blipFill>
        <p:spPr>
          <a:xfrm>
            <a:off x="2184400" y="1852296"/>
            <a:ext cx="7823200" cy="440055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Duck Run: judges deck">
  <a:themeElements>
    <a:clrScheme name="Duck Run: judges deck">
      <a:dk1>
        <a:srgbClr val="1D2433"/>
      </a:dk1>
      <a:lt1>
        <a:srgbClr val="FFFAF0"/>
      </a:lt1>
      <a:dk2>
        <a:srgbClr val="565A62"/>
      </a:dk2>
      <a:lt2>
        <a:srgbClr val="E8E5DD"/>
      </a:lt2>
      <a:accent1>
        <a:srgbClr val="1F6F99"/>
      </a:accent1>
      <a:accent2>
        <a:srgbClr val="FFD23F"/>
      </a:accent2>
      <a:accent3>
        <a:srgbClr val="5B3A1A"/>
      </a:accent3>
      <a:accent4>
        <a:srgbClr val="C46A12"/>
      </a:accent4>
      <a:accent5>
        <a:srgbClr val="7EC8F0"/>
      </a:accent5>
      <a:accent6>
        <a:srgbClr val="FFE9B8"/>
      </a:accent6>
      <a:hlink>
        <a:srgbClr val="0563C1"/>
      </a:hlink>
      <a:folHlink>
        <a:srgbClr val="954F72"/>
      </a:folHlink>
    </a:clrScheme>
    <a:fontScheme name="Duck Run: judges deck">
      <a:majorFont>
        <a:latin typeface="Fredok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Duck Run: judges deck</dc:title>
  <dc:subject/>
  <dc:creator/>
  <cp:lastModifiedBy/>
  <cp:revision>1</cp:revision>
  <dcterms:created xsi:type="dcterms:W3CDTF">2026-10-18T01:18:29Z</dcterms:created>
  <dcterms:modified xsi:type="dcterms:W3CDTF">2026-10-18T01:18:29Z</dcterms:modified>
</cp:coreProperties>
</file>